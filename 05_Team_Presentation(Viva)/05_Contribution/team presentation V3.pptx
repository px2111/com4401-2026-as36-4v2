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4"/>
  </p:sldMasterIdLst>
  <p:notesMasterIdLst>
    <p:notesMasterId r:id="rId25"/>
  </p:notesMasterIdLst>
  <p:sldIdLst>
    <p:sldId id="256" r:id="rId5"/>
    <p:sldId id="258" r:id="rId6"/>
    <p:sldId id="259" r:id="rId7"/>
    <p:sldId id="271" r:id="rId8"/>
    <p:sldId id="272" r:id="rId9"/>
    <p:sldId id="261" r:id="rId10"/>
    <p:sldId id="262" r:id="rId11"/>
    <p:sldId id="275" r:id="rId12"/>
    <p:sldId id="273" r:id="rId13"/>
    <p:sldId id="263" r:id="rId14"/>
    <p:sldId id="274" r:id="rId15"/>
    <p:sldId id="276" r:id="rId16"/>
    <p:sldId id="277" r:id="rId17"/>
    <p:sldId id="264" r:id="rId18"/>
    <p:sldId id="265" r:id="rId19"/>
    <p:sldId id="266" r:id="rId20"/>
    <p:sldId id="267" r:id="rId21"/>
    <p:sldId id="268" r:id="rId22"/>
    <p:sldId id="269" r:id="rId23"/>
    <p:sldId id="270" r:id="rId24"/>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3213DD-5A36-3189-D7D6-2E624A325D24}" v="22" dt="2026-10-22T08:39:46.386"/>
    <p1510:client id="{B83CEFDD-D3E3-B8CA-820E-84CCAC2E29C7}" v="3" dt="2026-10-22T03:16:12.432"/>
    <p1510:client id="{D3A07AFA-5D17-4F08-B50F-2176068E285C}" v="238" dt="2026-10-22T10:09:10.7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diagrams/_rels/data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E24BDD-3F85-4A53-8F94-BB31C7066AB7}"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DE18CF50-1F5F-4CE3-A7B8-AAA34C3AA61C}">
      <dgm:prSet/>
      <dgm:spPr/>
      <dgm:t>
        <a:bodyPr/>
        <a:lstStyle/>
        <a:p>
          <a:r>
            <a:rPr lang="en-US" b="1"/>
            <a:t>The problem </a:t>
          </a:r>
          <a:r>
            <a:rPr lang="en-US"/>
            <a:t>We were tasked to design and simulate a working office network for NorthWest Architecture Studio Ltd using Filius software.</a:t>
          </a:r>
        </a:p>
      </dgm:t>
    </dgm:pt>
    <dgm:pt modelId="{7A7EF767-27F0-4824-A477-4EF46CEDAB93}" type="parTrans" cxnId="{ED56A84C-7D14-43EF-BC4C-240E90690604}">
      <dgm:prSet/>
      <dgm:spPr/>
      <dgm:t>
        <a:bodyPr/>
        <a:lstStyle/>
        <a:p>
          <a:endParaRPr lang="en-US"/>
        </a:p>
      </dgm:t>
    </dgm:pt>
    <dgm:pt modelId="{FAD7A979-9ECD-46AC-9E7D-399EC2056D55}" type="sibTrans" cxnId="{ED56A84C-7D14-43EF-BC4C-240E90690604}">
      <dgm:prSet/>
      <dgm:spPr/>
      <dgm:t>
        <a:bodyPr/>
        <a:lstStyle/>
        <a:p>
          <a:endParaRPr lang="en-US"/>
        </a:p>
      </dgm:t>
    </dgm:pt>
    <dgm:pt modelId="{5FD57543-B759-4796-83D0-1B41EB3552C9}">
      <dgm:prSet/>
      <dgm:spPr/>
      <dgm:t>
        <a:bodyPr/>
        <a:lstStyle/>
        <a:p>
          <a:r>
            <a:rPr lang="en-US" b="1"/>
            <a:t>Our solution </a:t>
          </a:r>
          <a:r>
            <a:rPr lang="en-US"/>
            <a:t>Each team member created a design and have attached screenshot evidence on our report from their builds with all the testing</a:t>
          </a:r>
        </a:p>
      </dgm:t>
    </dgm:pt>
    <dgm:pt modelId="{E955486A-8379-4A2F-8FCB-84B42E6A5125}" type="parTrans" cxnId="{CAD675E6-8EA1-477B-8EF7-079EC04A20BB}">
      <dgm:prSet/>
      <dgm:spPr/>
      <dgm:t>
        <a:bodyPr/>
        <a:lstStyle/>
        <a:p>
          <a:endParaRPr lang="en-US"/>
        </a:p>
      </dgm:t>
    </dgm:pt>
    <dgm:pt modelId="{DCA08935-B78A-41E0-A4FA-0EE38CDC5DD0}" type="sibTrans" cxnId="{CAD675E6-8EA1-477B-8EF7-079EC04A20BB}">
      <dgm:prSet/>
      <dgm:spPr/>
      <dgm:t>
        <a:bodyPr/>
        <a:lstStyle/>
        <a:p>
          <a:endParaRPr lang="en-US"/>
        </a:p>
      </dgm:t>
    </dgm:pt>
    <dgm:pt modelId="{989970EF-E440-4895-991B-658B6D44F5E9}">
      <dgm:prSet/>
      <dgm:spPr/>
      <dgm:t>
        <a:bodyPr/>
        <a:lstStyle/>
        <a:p>
          <a:r>
            <a:rPr lang="en-US" b="1"/>
            <a:t>One decision </a:t>
          </a:r>
          <a:r>
            <a:rPr lang="en-US"/>
            <a:t>We had to make a report showing the topology we were tasked to create,screenshots were attached showing successful pings between different devices in the network,test DNS, webservers and also explain at least 5 protocols and concepts from the table we were given</a:t>
          </a:r>
        </a:p>
      </dgm:t>
    </dgm:pt>
    <dgm:pt modelId="{427280E3-CF6C-42BA-8D23-94DBDAD5EF8D}" type="parTrans" cxnId="{13BB8290-19B5-4034-953A-92E01ED74FA6}">
      <dgm:prSet/>
      <dgm:spPr/>
      <dgm:t>
        <a:bodyPr/>
        <a:lstStyle/>
        <a:p>
          <a:endParaRPr lang="en-US"/>
        </a:p>
      </dgm:t>
    </dgm:pt>
    <dgm:pt modelId="{8F1EAFE9-7356-4AE5-8CCD-5998CAA4FDF0}" type="sibTrans" cxnId="{13BB8290-19B5-4034-953A-92E01ED74FA6}">
      <dgm:prSet/>
      <dgm:spPr/>
      <dgm:t>
        <a:bodyPr/>
        <a:lstStyle/>
        <a:p>
          <a:endParaRPr lang="en-US"/>
        </a:p>
      </dgm:t>
    </dgm:pt>
    <dgm:pt modelId="{527D2FE0-3AD9-470C-9644-F9450A1FA2E2}" type="pres">
      <dgm:prSet presAssocID="{2BE24BDD-3F85-4A53-8F94-BB31C7066AB7}" presName="root" presStyleCnt="0">
        <dgm:presLayoutVars>
          <dgm:dir/>
          <dgm:resizeHandles val="exact"/>
        </dgm:presLayoutVars>
      </dgm:prSet>
      <dgm:spPr/>
    </dgm:pt>
    <dgm:pt modelId="{9A839847-F829-48A9-823A-4E9334ADAD3E}" type="pres">
      <dgm:prSet presAssocID="{DE18CF50-1F5F-4CE3-A7B8-AAA34C3AA61C}" presName="compNode" presStyleCnt="0"/>
      <dgm:spPr/>
    </dgm:pt>
    <dgm:pt modelId="{09689765-E383-497D-A566-C2DD331F2803}" type="pres">
      <dgm:prSet presAssocID="{DE18CF50-1F5F-4CE3-A7B8-AAA34C3AA61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B61A3B16-8AC6-4B1F-A115-87AB65490A1D}" type="pres">
      <dgm:prSet presAssocID="{DE18CF50-1F5F-4CE3-A7B8-AAA34C3AA61C}" presName="spaceRect" presStyleCnt="0"/>
      <dgm:spPr/>
    </dgm:pt>
    <dgm:pt modelId="{EFECD0A9-FA00-4361-81BB-F732D191A6A6}" type="pres">
      <dgm:prSet presAssocID="{DE18CF50-1F5F-4CE3-A7B8-AAA34C3AA61C}" presName="textRect" presStyleLbl="revTx" presStyleIdx="0" presStyleCnt="3">
        <dgm:presLayoutVars>
          <dgm:chMax val="1"/>
          <dgm:chPref val="1"/>
        </dgm:presLayoutVars>
      </dgm:prSet>
      <dgm:spPr/>
    </dgm:pt>
    <dgm:pt modelId="{95D03442-06AD-466E-90E9-910BD4BB4D2F}" type="pres">
      <dgm:prSet presAssocID="{FAD7A979-9ECD-46AC-9E7D-399EC2056D55}" presName="sibTrans" presStyleCnt="0"/>
      <dgm:spPr/>
    </dgm:pt>
    <dgm:pt modelId="{924E7632-5B0E-4711-A036-501BB12876BE}" type="pres">
      <dgm:prSet presAssocID="{5FD57543-B759-4796-83D0-1B41EB3552C9}" presName="compNode" presStyleCnt="0"/>
      <dgm:spPr/>
    </dgm:pt>
    <dgm:pt modelId="{AD2736F5-F613-4103-B363-764F3051774A}" type="pres">
      <dgm:prSet presAssocID="{5FD57543-B759-4796-83D0-1B41EB3552C9}"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D311A8AB-032D-4CF9-B507-9ABD268CD5B1}" type="pres">
      <dgm:prSet presAssocID="{5FD57543-B759-4796-83D0-1B41EB3552C9}" presName="spaceRect" presStyleCnt="0"/>
      <dgm:spPr/>
    </dgm:pt>
    <dgm:pt modelId="{B4736B61-3D83-48F4-A323-8C777438EFAD}" type="pres">
      <dgm:prSet presAssocID="{5FD57543-B759-4796-83D0-1B41EB3552C9}" presName="textRect" presStyleLbl="revTx" presStyleIdx="1" presStyleCnt="3">
        <dgm:presLayoutVars>
          <dgm:chMax val="1"/>
          <dgm:chPref val="1"/>
        </dgm:presLayoutVars>
      </dgm:prSet>
      <dgm:spPr/>
    </dgm:pt>
    <dgm:pt modelId="{AC4010B3-40C5-42B2-A42F-407169CED852}" type="pres">
      <dgm:prSet presAssocID="{DCA08935-B78A-41E0-A4FA-0EE38CDC5DD0}" presName="sibTrans" presStyleCnt="0"/>
      <dgm:spPr/>
    </dgm:pt>
    <dgm:pt modelId="{66493DA4-5D02-46D5-9650-76E83DADD80B}" type="pres">
      <dgm:prSet presAssocID="{989970EF-E440-4895-991B-658B6D44F5E9}" presName="compNode" presStyleCnt="0"/>
      <dgm:spPr/>
    </dgm:pt>
    <dgm:pt modelId="{E8E9966B-CBC7-485E-A094-8EEC8A7F7D76}" type="pres">
      <dgm:prSet presAssocID="{989970EF-E440-4895-991B-658B6D44F5E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owchart"/>
        </a:ext>
      </dgm:extLst>
    </dgm:pt>
    <dgm:pt modelId="{48567C5A-21A9-486F-9BF0-BAF17C396A9E}" type="pres">
      <dgm:prSet presAssocID="{989970EF-E440-4895-991B-658B6D44F5E9}" presName="spaceRect" presStyleCnt="0"/>
      <dgm:spPr/>
    </dgm:pt>
    <dgm:pt modelId="{D72B7C65-F424-4D07-9D91-00F4ADA9FD98}" type="pres">
      <dgm:prSet presAssocID="{989970EF-E440-4895-991B-658B6D44F5E9}" presName="textRect" presStyleLbl="revTx" presStyleIdx="2" presStyleCnt="3">
        <dgm:presLayoutVars>
          <dgm:chMax val="1"/>
          <dgm:chPref val="1"/>
        </dgm:presLayoutVars>
      </dgm:prSet>
      <dgm:spPr/>
    </dgm:pt>
  </dgm:ptLst>
  <dgm:cxnLst>
    <dgm:cxn modelId="{E0319015-909F-47A9-B5E9-1639456421BC}" type="presOf" srcId="{989970EF-E440-4895-991B-658B6D44F5E9}" destId="{D72B7C65-F424-4D07-9D91-00F4ADA9FD98}" srcOrd="0" destOrd="0" presId="urn:microsoft.com/office/officeart/2018/2/layout/IconLabelList"/>
    <dgm:cxn modelId="{6264C51C-7BB7-44D5-8FAC-46D918E8F8F5}" type="presOf" srcId="{2BE24BDD-3F85-4A53-8F94-BB31C7066AB7}" destId="{527D2FE0-3AD9-470C-9644-F9450A1FA2E2}" srcOrd="0" destOrd="0" presId="urn:microsoft.com/office/officeart/2018/2/layout/IconLabelList"/>
    <dgm:cxn modelId="{ED56A84C-7D14-43EF-BC4C-240E90690604}" srcId="{2BE24BDD-3F85-4A53-8F94-BB31C7066AB7}" destId="{DE18CF50-1F5F-4CE3-A7B8-AAA34C3AA61C}" srcOrd="0" destOrd="0" parTransId="{7A7EF767-27F0-4824-A477-4EF46CEDAB93}" sibTransId="{FAD7A979-9ECD-46AC-9E7D-399EC2056D55}"/>
    <dgm:cxn modelId="{60C8134F-6794-4E2A-8798-9920DCE54F2A}" type="presOf" srcId="{DE18CF50-1F5F-4CE3-A7B8-AAA34C3AA61C}" destId="{EFECD0A9-FA00-4361-81BB-F732D191A6A6}" srcOrd="0" destOrd="0" presId="urn:microsoft.com/office/officeart/2018/2/layout/IconLabelList"/>
    <dgm:cxn modelId="{13BB8290-19B5-4034-953A-92E01ED74FA6}" srcId="{2BE24BDD-3F85-4A53-8F94-BB31C7066AB7}" destId="{989970EF-E440-4895-991B-658B6D44F5E9}" srcOrd="2" destOrd="0" parTransId="{427280E3-CF6C-42BA-8D23-94DBDAD5EF8D}" sibTransId="{8F1EAFE9-7356-4AE5-8CCD-5998CAA4FDF0}"/>
    <dgm:cxn modelId="{D847C9A9-64DB-4C0D-ACE8-958C7C0ECF67}" type="presOf" srcId="{5FD57543-B759-4796-83D0-1B41EB3552C9}" destId="{B4736B61-3D83-48F4-A323-8C777438EFAD}" srcOrd="0" destOrd="0" presId="urn:microsoft.com/office/officeart/2018/2/layout/IconLabelList"/>
    <dgm:cxn modelId="{CAD675E6-8EA1-477B-8EF7-079EC04A20BB}" srcId="{2BE24BDD-3F85-4A53-8F94-BB31C7066AB7}" destId="{5FD57543-B759-4796-83D0-1B41EB3552C9}" srcOrd="1" destOrd="0" parTransId="{E955486A-8379-4A2F-8FCB-84B42E6A5125}" sibTransId="{DCA08935-B78A-41E0-A4FA-0EE38CDC5DD0}"/>
    <dgm:cxn modelId="{6AFD81E7-81DA-4870-8357-8E9AFF07DEB8}" type="presParOf" srcId="{527D2FE0-3AD9-470C-9644-F9450A1FA2E2}" destId="{9A839847-F829-48A9-823A-4E9334ADAD3E}" srcOrd="0" destOrd="0" presId="urn:microsoft.com/office/officeart/2018/2/layout/IconLabelList"/>
    <dgm:cxn modelId="{253EE39B-0690-4B33-8EBC-E1296D542808}" type="presParOf" srcId="{9A839847-F829-48A9-823A-4E9334ADAD3E}" destId="{09689765-E383-497D-A566-C2DD331F2803}" srcOrd="0" destOrd="0" presId="urn:microsoft.com/office/officeart/2018/2/layout/IconLabelList"/>
    <dgm:cxn modelId="{218C66B3-5692-4B33-9EE3-C37F03FB8E0E}" type="presParOf" srcId="{9A839847-F829-48A9-823A-4E9334ADAD3E}" destId="{B61A3B16-8AC6-4B1F-A115-87AB65490A1D}" srcOrd="1" destOrd="0" presId="urn:microsoft.com/office/officeart/2018/2/layout/IconLabelList"/>
    <dgm:cxn modelId="{3EDA7E83-AFEE-41FC-9DF0-4B8DBCB91F65}" type="presParOf" srcId="{9A839847-F829-48A9-823A-4E9334ADAD3E}" destId="{EFECD0A9-FA00-4361-81BB-F732D191A6A6}" srcOrd="2" destOrd="0" presId="urn:microsoft.com/office/officeart/2018/2/layout/IconLabelList"/>
    <dgm:cxn modelId="{88F4D707-B4E1-442F-BCA6-AFAA1E483BC8}" type="presParOf" srcId="{527D2FE0-3AD9-470C-9644-F9450A1FA2E2}" destId="{95D03442-06AD-466E-90E9-910BD4BB4D2F}" srcOrd="1" destOrd="0" presId="urn:microsoft.com/office/officeart/2018/2/layout/IconLabelList"/>
    <dgm:cxn modelId="{D06C7677-2DCE-48C4-9257-E38E2561CF26}" type="presParOf" srcId="{527D2FE0-3AD9-470C-9644-F9450A1FA2E2}" destId="{924E7632-5B0E-4711-A036-501BB12876BE}" srcOrd="2" destOrd="0" presId="urn:microsoft.com/office/officeart/2018/2/layout/IconLabelList"/>
    <dgm:cxn modelId="{E0A8DAB5-E1D5-497F-B694-BCBBFE40AA36}" type="presParOf" srcId="{924E7632-5B0E-4711-A036-501BB12876BE}" destId="{AD2736F5-F613-4103-B363-764F3051774A}" srcOrd="0" destOrd="0" presId="urn:microsoft.com/office/officeart/2018/2/layout/IconLabelList"/>
    <dgm:cxn modelId="{A292C47B-8BD1-4061-AFDD-CA79614B4BCC}" type="presParOf" srcId="{924E7632-5B0E-4711-A036-501BB12876BE}" destId="{D311A8AB-032D-4CF9-B507-9ABD268CD5B1}" srcOrd="1" destOrd="0" presId="urn:microsoft.com/office/officeart/2018/2/layout/IconLabelList"/>
    <dgm:cxn modelId="{866A1FE8-1F23-424A-8B5A-32CFDDDD430B}" type="presParOf" srcId="{924E7632-5B0E-4711-A036-501BB12876BE}" destId="{B4736B61-3D83-48F4-A323-8C777438EFAD}" srcOrd="2" destOrd="0" presId="urn:microsoft.com/office/officeart/2018/2/layout/IconLabelList"/>
    <dgm:cxn modelId="{48439593-647D-4CC5-B3DA-8B9005719920}" type="presParOf" srcId="{527D2FE0-3AD9-470C-9644-F9450A1FA2E2}" destId="{AC4010B3-40C5-42B2-A42F-407169CED852}" srcOrd="3" destOrd="0" presId="urn:microsoft.com/office/officeart/2018/2/layout/IconLabelList"/>
    <dgm:cxn modelId="{FCF75DC2-F9E8-42A5-91DE-682B4AE95D6F}" type="presParOf" srcId="{527D2FE0-3AD9-470C-9644-F9450A1FA2E2}" destId="{66493DA4-5D02-46D5-9650-76E83DADD80B}" srcOrd="4" destOrd="0" presId="urn:microsoft.com/office/officeart/2018/2/layout/IconLabelList"/>
    <dgm:cxn modelId="{26961D7C-F73D-4B95-9C0E-71AFA7BEC0FA}" type="presParOf" srcId="{66493DA4-5D02-46D5-9650-76E83DADD80B}" destId="{E8E9966B-CBC7-485E-A094-8EEC8A7F7D76}" srcOrd="0" destOrd="0" presId="urn:microsoft.com/office/officeart/2018/2/layout/IconLabelList"/>
    <dgm:cxn modelId="{B23BB5E3-59E0-4DC8-8415-3E61B1FDA53A}" type="presParOf" srcId="{66493DA4-5D02-46D5-9650-76E83DADD80B}" destId="{48567C5A-21A9-486F-9BF0-BAF17C396A9E}" srcOrd="1" destOrd="0" presId="urn:microsoft.com/office/officeart/2018/2/layout/IconLabelList"/>
    <dgm:cxn modelId="{CF179B8D-FCD4-42B6-885D-02176078C96C}" type="presParOf" srcId="{66493DA4-5D02-46D5-9650-76E83DADD80B}" destId="{D72B7C65-F424-4D07-9D91-00F4ADA9FD9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689765-E383-497D-A566-C2DD331F2803}">
      <dsp:nvSpPr>
        <dsp:cNvPr id="0" name=""/>
        <dsp:cNvSpPr/>
      </dsp:nvSpPr>
      <dsp:spPr>
        <a:xfrm>
          <a:off x="1465185" y="148398"/>
          <a:ext cx="796552" cy="7965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FECD0A9-FA00-4361-81BB-F732D191A6A6}">
      <dsp:nvSpPr>
        <dsp:cNvPr id="0" name=""/>
        <dsp:cNvSpPr/>
      </dsp:nvSpPr>
      <dsp:spPr>
        <a:xfrm>
          <a:off x="978403" y="1390145"/>
          <a:ext cx="1770117" cy="1725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The problem </a:t>
          </a:r>
          <a:r>
            <a:rPr lang="en-US" sz="1100" kern="1200"/>
            <a:t>We were tasked to design and simulate a working office network for NorthWest Architecture Studio Ltd using Filius software.</a:t>
          </a:r>
        </a:p>
      </dsp:txBody>
      <dsp:txXfrm>
        <a:off x="978403" y="1390145"/>
        <a:ext cx="1770117" cy="1725864"/>
      </dsp:txXfrm>
    </dsp:sp>
    <dsp:sp modelId="{AD2736F5-F613-4103-B363-764F3051774A}">
      <dsp:nvSpPr>
        <dsp:cNvPr id="0" name=""/>
        <dsp:cNvSpPr/>
      </dsp:nvSpPr>
      <dsp:spPr>
        <a:xfrm>
          <a:off x="3545073" y="148398"/>
          <a:ext cx="796552" cy="7965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4736B61-3D83-48F4-A323-8C777438EFAD}">
      <dsp:nvSpPr>
        <dsp:cNvPr id="0" name=""/>
        <dsp:cNvSpPr/>
      </dsp:nvSpPr>
      <dsp:spPr>
        <a:xfrm>
          <a:off x="3058291" y="1390145"/>
          <a:ext cx="1770117" cy="1725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Our solution </a:t>
          </a:r>
          <a:r>
            <a:rPr lang="en-US" sz="1100" kern="1200"/>
            <a:t>Each team member created a design and have attached screenshot evidence on our report from their builds with all the testing</a:t>
          </a:r>
        </a:p>
      </dsp:txBody>
      <dsp:txXfrm>
        <a:off x="3058291" y="1390145"/>
        <a:ext cx="1770117" cy="1725864"/>
      </dsp:txXfrm>
    </dsp:sp>
    <dsp:sp modelId="{E8E9966B-CBC7-485E-A094-8EEC8A7F7D76}">
      <dsp:nvSpPr>
        <dsp:cNvPr id="0" name=""/>
        <dsp:cNvSpPr/>
      </dsp:nvSpPr>
      <dsp:spPr>
        <a:xfrm>
          <a:off x="5624961" y="148398"/>
          <a:ext cx="796552" cy="79655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2B7C65-F424-4D07-9D91-00F4ADA9FD98}">
      <dsp:nvSpPr>
        <dsp:cNvPr id="0" name=""/>
        <dsp:cNvSpPr/>
      </dsp:nvSpPr>
      <dsp:spPr>
        <a:xfrm>
          <a:off x="5138179" y="1390145"/>
          <a:ext cx="1770117" cy="1725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One decision </a:t>
          </a:r>
          <a:r>
            <a:rPr lang="en-US" sz="1100" kern="1200"/>
            <a:t>We had to make a report showing the topology we were tasked to create,screenshots were attached showing successful pings between different devices in the network,test DNS, webservers and also explain at least 5 protocols and concepts from the table we were given</a:t>
          </a:r>
        </a:p>
      </dsp:txBody>
      <dsp:txXfrm>
        <a:off x="5138179" y="1390145"/>
        <a:ext cx="1770117" cy="1725864"/>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18" name="Google Shape;1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 name="Google Shape;1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35" name="Google Shape;3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 name="Google Shape;36;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43" name="Google Shape;4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 name="Google Shape;4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59" name="Google Shape;5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h162ea0cff72b4b11_1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67" name="Google Shape;67;h162ea0cff72b4b11_1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 name="Google Shape;68;h162ea0cff72b4b11_1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75" name="Google Shape;7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h162ea0cff72b4b11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83" name="Google Shape;83;h162ea0cff72b4b11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h162ea0cff72b4b11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91" name="Google Shape;9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99" name="Google Shape;9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indent="0"/>
            <a:r>
              <a:rPr lang="en-US" b="1">
                <a:solidFill>
                  <a:schemeClr val="accent2"/>
                </a:solidFill>
              </a:rPr>
              <a:t>The problem </a:t>
            </a:r>
            <a:r>
              <a:rPr lang="en-US"/>
              <a:t>We were tasked with creating a research paper about Cyber security</a:t>
            </a:r>
          </a:p>
          <a:p>
            <a:pPr marL="0" indent="0"/>
            <a:r>
              <a:rPr lang="en-US" b="1">
                <a:solidFill>
                  <a:schemeClr val="accent2"/>
                </a:solidFill>
              </a:rPr>
              <a:t>Our solution </a:t>
            </a:r>
            <a:r>
              <a:rPr lang="en-US"/>
              <a:t>Each person was tasked with researching a certain criteria of Cyber Security and creating a 1000-word report providing references</a:t>
            </a:r>
          </a:p>
          <a:p>
            <a:pPr marL="0" indent="0"/>
            <a:r>
              <a:rPr lang="en-US" b="1">
                <a:solidFill>
                  <a:schemeClr val="accent2"/>
                </a:solidFill>
              </a:rPr>
              <a:t>One decision </a:t>
            </a:r>
            <a:r>
              <a:rPr lang="en-US">
                <a:solidFill>
                  <a:schemeClr val="tx1"/>
                </a:solidFill>
              </a:rPr>
              <a:t>We had to make a report about Password hygiene, MFA, Phishing, Safe use of devices and Safe use of public WI-FI, each</a:t>
            </a:r>
            <a:endParaRPr lang="en-US"/>
          </a:p>
          <a:p>
            <a:pPr marL="0" lvl="0" indent="0" algn="l">
              <a:spcBef>
                <a:spcPts val="0"/>
              </a:spcBef>
              <a:spcAft>
                <a:spcPts val="0"/>
              </a:spcAft>
              <a:buNone/>
            </a:pPr>
            <a:endParaRPr/>
          </a:p>
        </p:txBody>
      </p:sp>
      <p:sp>
        <p:nvSpPr>
          <p:cNvPr id="100" name="Google Shape;10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107" name="Google Shape;10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115" name="Google Shape;11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accent2"/>
              </a:buClr>
              <a:buSzPts val="2000"/>
              <a:buFont typeface="Calibri"/>
              <a:buNone/>
            </a:pPr>
            <a:r>
              <a:rPr lang="en-GB" sz="1200" b="1" i="0" u="none" strike="noStrike" cap="none">
                <a:solidFill>
                  <a:schemeClr val="accent2"/>
                </a:solidFill>
                <a:latin typeface="Calibri"/>
                <a:ea typeface="Calibri"/>
                <a:cs typeface="Calibri"/>
                <a:sym typeface="Calibri"/>
              </a:rPr>
              <a:t>How they connect  </a:t>
            </a:r>
            <a:r>
              <a:rPr lang="en-GB" sz="1200" b="0" i="0" u="none" strike="noStrike" cap="none">
                <a:solidFill>
                  <a:schemeClr val="dk1"/>
                </a:solidFill>
                <a:latin typeface="Calibri"/>
                <a:ea typeface="Calibri"/>
                <a:cs typeface="Calibri"/>
                <a:sym typeface="Calibri"/>
              </a:rPr>
              <a:t>All these mini projects connect different essential and important aspects of computing</a:t>
            </a:r>
          </a:p>
          <a:p>
            <a:pPr marL="0" marR="0" lvl="0" indent="0" algn="l" rtl="0">
              <a:spcBef>
                <a:spcPts val="0"/>
              </a:spcBef>
              <a:spcAft>
                <a:spcPts val="0"/>
              </a:spcAft>
              <a:buClr>
                <a:schemeClr val="accent2"/>
              </a:buClr>
              <a:buSzPts val="2000"/>
              <a:buFont typeface="Calibri"/>
              <a:buNone/>
            </a:pPr>
            <a:r>
              <a:rPr lang="en-GB" sz="1200" b="1" i="0" u="none" strike="noStrike" cap="none">
                <a:solidFill>
                  <a:schemeClr val="accent2"/>
                </a:solidFill>
                <a:latin typeface="Calibri"/>
                <a:ea typeface="Calibri"/>
                <a:cs typeface="Calibri"/>
                <a:sym typeface="Calibri"/>
              </a:rPr>
              <a:t>What went well  </a:t>
            </a:r>
            <a:r>
              <a:rPr lang="en-GB" sz="1200">
                <a:solidFill>
                  <a:schemeClr val="dk1"/>
                </a:solidFill>
                <a:latin typeface="Calibri"/>
                <a:ea typeface="Calibri"/>
                <a:cs typeface="Calibri"/>
                <a:sym typeface="Calibri"/>
              </a:rPr>
              <a:t>We were quick when it came to getting the work done</a:t>
            </a:r>
            <a:endParaRPr lang="en-GB"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2"/>
              </a:buClr>
              <a:buSzPts val="2000"/>
              <a:buFont typeface="Calibri"/>
              <a:buNone/>
            </a:pPr>
            <a:r>
              <a:rPr lang="en-GB" sz="1200" b="1" i="0" u="none" strike="noStrike" cap="none">
                <a:solidFill>
                  <a:schemeClr val="accent2"/>
                </a:solidFill>
                <a:latin typeface="Calibri"/>
                <a:ea typeface="Calibri"/>
                <a:cs typeface="Calibri"/>
                <a:sym typeface="Calibri"/>
              </a:rPr>
              <a:t>What was hard or unfinished  </a:t>
            </a:r>
            <a:r>
              <a:rPr lang="en-GB" sz="1200" b="0" i="0" u="none" strike="noStrike" cap="none">
                <a:solidFill>
                  <a:schemeClr val="dk1"/>
                </a:solidFill>
                <a:latin typeface="Calibri"/>
                <a:ea typeface="Calibri"/>
                <a:cs typeface="Calibri"/>
                <a:sym typeface="Calibri"/>
              </a:rPr>
              <a:t>I challenge we faced was communication, we had quiet a few problems with getting in touch with a few of our team members which caused a few issues</a:t>
            </a:r>
          </a:p>
          <a:p>
            <a:pPr marL="0" marR="0" lvl="0" indent="0" algn="l" rtl="0">
              <a:spcBef>
                <a:spcPts val="0"/>
              </a:spcBef>
              <a:spcAft>
                <a:spcPts val="0"/>
              </a:spcAft>
              <a:buClr>
                <a:schemeClr val="accent2"/>
              </a:buClr>
              <a:buSzPts val="2000"/>
              <a:buFont typeface="Calibri"/>
              <a:buNone/>
            </a:pPr>
            <a:r>
              <a:rPr lang="en-GB" sz="1200" b="1" i="0" u="none" strike="noStrike" cap="none">
                <a:solidFill>
                  <a:schemeClr val="accent2"/>
                </a:solidFill>
                <a:latin typeface="Calibri"/>
                <a:ea typeface="Calibri"/>
                <a:cs typeface="Calibri"/>
                <a:sym typeface="Calibri"/>
              </a:rPr>
              <a:t>What we learned  </a:t>
            </a:r>
            <a:r>
              <a:rPr lang="en-GB" sz="1200" b="0" i="0" u="none" strike="noStrike" cap="none">
                <a:solidFill>
                  <a:schemeClr val="dk1"/>
                </a:solidFill>
                <a:latin typeface="Calibri"/>
                <a:ea typeface="Calibri"/>
                <a:cs typeface="Calibri"/>
                <a:sym typeface="Calibri"/>
              </a:rPr>
              <a:t>working as a team is essential with project work and communication is important</a:t>
            </a:r>
          </a:p>
          <a:p>
            <a:pPr marL="0" lvl="0" indent="0" algn="l" rtl="0">
              <a:spcBef>
                <a:spcPts val="0"/>
              </a:spcBef>
              <a:spcAft>
                <a:spcPts val="0"/>
              </a:spcAft>
              <a:buNone/>
            </a:pPr>
            <a:endParaRPr/>
          </a:p>
        </p:txBody>
      </p:sp>
      <p:sp>
        <p:nvSpPr>
          <p:cNvPr id="116" name="Google Shape;11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123" name="Google Shape;12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MP1</a:t>
            </a:r>
            <a:endParaRPr/>
          </a:p>
          <a:p>
            <a:pPr marL="0" lvl="0" indent="0" algn="l" rtl="0">
              <a:spcBef>
                <a:spcPts val="0"/>
              </a:spcBef>
              <a:spcAft>
                <a:spcPts val="0"/>
              </a:spcAft>
              <a:buNone/>
            </a:pPr>
            <a:r>
              <a:rPr lang="en-US"/>
              <a:t>MP2</a:t>
            </a:r>
            <a:endParaRPr/>
          </a:p>
          <a:p>
            <a:pPr marL="0" lvl="0" indent="0" algn="l" rtl="0">
              <a:spcBef>
                <a:spcPts val="0"/>
              </a:spcBef>
              <a:spcAft>
                <a:spcPts val="0"/>
              </a:spcAft>
              <a:buNone/>
            </a:pPr>
            <a:r>
              <a:rPr lang="en-US"/>
              <a:t>MP3</a:t>
            </a:r>
            <a:endParaRPr/>
          </a:p>
          <a:p>
            <a:pPr marL="0" lvl="0" indent="0" algn="l" rtl="0">
              <a:spcBef>
                <a:spcPts val="0"/>
              </a:spcBef>
              <a:spcAft>
                <a:spcPts val="0"/>
              </a:spcAft>
              <a:buNone/>
            </a:pPr>
            <a:r>
              <a:rPr lang="en-US"/>
              <a:t>MP4: we didn't use any AI when doing our cyber security research, this is because we needed to source all of our information and I </a:t>
            </a:r>
            <a:r>
              <a:rPr lang="en-US" err="1"/>
              <a:t>dont</a:t>
            </a:r>
            <a:r>
              <a:rPr lang="en-US"/>
              <a:t> think AI can reliably source totally accurate / reliable information since it the client brief specifically asked to use Harvard referencing and to also </a:t>
            </a:r>
            <a:endParaRPr/>
          </a:p>
        </p:txBody>
      </p:sp>
      <p:sp>
        <p:nvSpPr>
          <p:cNvPr id="124" name="Google Shape;12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131" name="Google Shape;13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Communication between was poor, for example haneef struggled to do his allocated work multiple times and didn't inform any of the team</a:t>
            </a:r>
            <a:endParaRPr/>
          </a:p>
          <a:p>
            <a:pPr marL="0" lvl="0" indent="0" algn="l" rtl="0">
              <a:spcBef>
                <a:spcPts val="0"/>
              </a:spcBef>
              <a:spcAft>
                <a:spcPts val="0"/>
              </a:spcAft>
              <a:buNone/>
            </a:pPr>
            <a:r>
              <a:rPr lang="en-US"/>
              <a:t>evidencing could of been done a lot better, the github repository could of been used a lot better and wasn't utilised as well as it could of been</a:t>
            </a:r>
            <a:endParaRPr/>
          </a:p>
        </p:txBody>
      </p:sp>
      <p:sp>
        <p:nvSpPr>
          <p:cNvPr id="132" name="Google Shape;13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IMPLE">
  <p:cSld name="SIMPLE">
    <p:bg>
      <p:bgPr>
        <a:solidFill>
          <a:srgbClr val="F6EFE4"/>
        </a:solidFill>
        <a:effectLst/>
      </p:bgPr>
    </p:bg>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640080" y="457200"/>
            <a:ext cx="7863840" cy="73152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
          <p:cNvSpPr/>
          <p:nvPr/>
        </p:nvSpPr>
        <p:spPr>
          <a:xfrm>
            <a:off x="640080" y="4709160"/>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3"/>
              </a:buClr>
              <a:buSzPts val="1000"/>
              <a:buFont typeface="Calibri"/>
              <a:buNone/>
            </a:pPr>
            <a:r>
              <a:rPr lang="en-US" sz="1000" b="0" i="0" u="none" strike="noStrike" cap="none">
                <a:solidFill>
                  <a:schemeClr val="accent3"/>
                </a:solidFill>
                <a:latin typeface="Calibri"/>
                <a:ea typeface="Calibri"/>
                <a:cs typeface="Calibri"/>
                <a:sym typeface="Calibri"/>
              </a:rPr>
              <a:t>COM4401 · Team Presentation</a:t>
            </a:r>
            <a:endParaRPr sz="1000" b="0" i="0" u="none" strike="noStrike" cap="none">
              <a:solidFill>
                <a:schemeClr val="dk1"/>
              </a:solidFill>
              <a:latin typeface="Calibri"/>
              <a:ea typeface="Calibri"/>
              <a:cs typeface="Calibri"/>
              <a:sym typeface="Calibri"/>
            </a:endParaRPr>
          </a:p>
        </p:txBody>
      </p:sp>
      <p:sp>
        <p:nvSpPr>
          <p:cNvPr id="14" name="Google Shape;14;p2"/>
          <p:cNvSpPr txBox="1">
            <a:spLocks noGrp="1"/>
          </p:cNvSpPr>
          <p:nvPr>
            <p:ph type="sldNum" idx="12"/>
          </p:nvPr>
        </p:nvSpPr>
        <p:spPr>
          <a:xfrm>
            <a:off x="8046720" y="4709160"/>
            <a:ext cx="457200" cy="27432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000" b="0" i="0" u="none" strike="noStrike" cap="none">
                <a:solidFill>
                  <a:schemeClr val="accent3"/>
                </a:solidFill>
                <a:latin typeface="Calibri"/>
                <a:ea typeface="Calibri"/>
                <a:cs typeface="Calibri"/>
                <a:sym typeface="Calibri"/>
              </a:defRPr>
            </a:lvl1pPr>
            <a:lvl2pPr marL="0" marR="0" lvl="1" indent="0" algn="r">
              <a:spcBef>
                <a:spcPts val="0"/>
              </a:spcBef>
              <a:buNone/>
              <a:defRPr sz="1000" b="0" i="0" u="none" strike="noStrike" cap="none">
                <a:solidFill>
                  <a:schemeClr val="accent3"/>
                </a:solidFill>
                <a:latin typeface="Calibri"/>
                <a:ea typeface="Calibri"/>
                <a:cs typeface="Calibri"/>
                <a:sym typeface="Calibri"/>
              </a:defRPr>
            </a:lvl2pPr>
            <a:lvl3pPr marL="0" marR="0" lvl="2" indent="0" algn="r">
              <a:spcBef>
                <a:spcPts val="0"/>
              </a:spcBef>
              <a:buNone/>
              <a:defRPr sz="1000" b="0" i="0" u="none" strike="noStrike" cap="none">
                <a:solidFill>
                  <a:schemeClr val="accent3"/>
                </a:solidFill>
                <a:latin typeface="Calibri"/>
                <a:ea typeface="Calibri"/>
                <a:cs typeface="Calibri"/>
                <a:sym typeface="Calibri"/>
              </a:defRPr>
            </a:lvl3pPr>
            <a:lvl4pPr marL="0" marR="0" lvl="3" indent="0" algn="r">
              <a:spcBef>
                <a:spcPts val="0"/>
              </a:spcBef>
              <a:buNone/>
              <a:defRPr sz="1000" b="0" i="0" u="none" strike="noStrike" cap="none">
                <a:solidFill>
                  <a:schemeClr val="accent3"/>
                </a:solidFill>
                <a:latin typeface="Calibri"/>
                <a:ea typeface="Calibri"/>
                <a:cs typeface="Calibri"/>
                <a:sym typeface="Calibri"/>
              </a:defRPr>
            </a:lvl4pPr>
            <a:lvl5pPr marL="0" marR="0" lvl="4" indent="0" algn="r">
              <a:spcBef>
                <a:spcPts val="0"/>
              </a:spcBef>
              <a:buNone/>
              <a:defRPr sz="1000" b="0" i="0" u="none" strike="noStrike" cap="none">
                <a:solidFill>
                  <a:schemeClr val="accent3"/>
                </a:solidFill>
                <a:latin typeface="Calibri"/>
                <a:ea typeface="Calibri"/>
                <a:cs typeface="Calibri"/>
                <a:sym typeface="Calibri"/>
              </a:defRPr>
            </a:lvl5pPr>
            <a:lvl6pPr marL="0" marR="0" lvl="5" indent="0" algn="r">
              <a:spcBef>
                <a:spcPts val="0"/>
              </a:spcBef>
              <a:buNone/>
              <a:defRPr sz="1000" b="0" i="0" u="none" strike="noStrike" cap="none">
                <a:solidFill>
                  <a:schemeClr val="accent3"/>
                </a:solidFill>
                <a:latin typeface="Calibri"/>
                <a:ea typeface="Calibri"/>
                <a:cs typeface="Calibri"/>
                <a:sym typeface="Calibri"/>
              </a:defRPr>
            </a:lvl6pPr>
            <a:lvl7pPr marL="0" marR="0" lvl="6" indent="0" algn="r">
              <a:spcBef>
                <a:spcPts val="0"/>
              </a:spcBef>
              <a:buNone/>
              <a:defRPr sz="1000" b="0" i="0" u="none" strike="noStrike" cap="none">
                <a:solidFill>
                  <a:schemeClr val="accent3"/>
                </a:solidFill>
                <a:latin typeface="Calibri"/>
                <a:ea typeface="Calibri"/>
                <a:cs typeface="Calibri"/>
                <a:sym typeface="Calibri"/>
              </a:defRPr>
            </a:lvl7pPr>
            <a:lvl8pPr marL="0" marR="0" lvl="7" indent="0" algn="r">
              <a:spcBef>
                <a:spcPts val="0"/>
              </a:spcBef>
              <a:buNone/>
              <a:defRPr sz="1000" b="0" i="0" u="none" strike="noStrike" cap="none">
                <a:solidFill>
                  <a:schemeClr val="accent3"/>
                </a:solidFill>
                <a:latin typeface="Calibri"/>
                <a:ea typeface="Calibri"/>
                <a:cs typeface="Calibri"/>
                <a:sym typeface="Calibri"/>
              </a:defRPr>
            </a:lvl8pPr>
            <a:lvl9pPr marL="0" marR="0" lvl="8" indent="0" algn="r">
              <a:spcBef>
                <a:spcPts val="0"/>
              </a:spcBef>
              <a:buNone/>
              <a:defRPr sz="1000" b="0" i="0" u="none" strike="noStrike" cap="none">
                <a:solidFill>
                  <a:schemeClr val="accent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10" name="Google Shape;10;p1"/>
          <p:cNvSpPr txBox="1">
            <a:spLocks noGrp="1"/>
          </p:cNvSpPr>
          <p:nvPr>
            <p:ph type="sldNum" idx="12"/>
          </p:nvPr>
        </p:nvSpPr>
        <p:spPr>
          <a:xfrm>
            <a:off x="8046720" y="4709160"/>
            <a:ext cx="457200" cy="27432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000" b="0" i="0" u="none" strike="noStrike" cap="none">
                <a:solidFill>
                  <a:schemeClr val="accent3"/>
                </a:solidFill>
                <a:latin typeface="Calibri"/>
                <a:ea typeface="Calibri"/>
                <a:cs typeface="Calibri"/>
                <a:sym typeface="Calibri"/>
              </a:defRPr>
            </a:lvl1pPr>
            <a:lvl2pPr marL="0" marR="0" lvl="1" indent="0" algn="r" rtl="0">
              <a:spcBef>
                <a:spcPts val="0"/>
              </a:spcBef>
              <a:buNone/>
              <a:defRPr sz="1000" b="0" i="0" u="none" strike="noStrike" cap="none">
                <a:solidFill>
                  <a:schemeClr val="accent3"/>
                </a:solidFill>
                <a:latin typeface="Calibri"/>
                <a:ea typeface="Calibri"/>
                <a:cs typeface="Calibri"/>
                <a:sym typeface="Calibri"/>
              </a:defRPr>
            </a:lvl2pPr>
            <a:lvl3pPr marL="0" marR="0" lvl="2" indent="0" algn="r" rtl="0">
              <a:spcBef>
                <a:spcPts val="0"/>
              </a:spcBef>
              <a:buNone/>
              <a:defRPr sz="1000" b="0" i="0" u="none" strike="noStrike" cap="none">
                <a:solidFill>
                  <a:schemeClr val="accent3"/>
                </a:solidFill>
                <a:latin typeface="Calibri"/>
                <a:ea typeface="Calibri"/>
                <a:cs typeface="Calibri"/>
                <a:sym typeface="Calibri"/>
              </a:defRPr>
            </a:lvl3pPr>
            <a:lvl4pPr marL="0" marR="0" lvl="3" indent="0" algn="r" rtl="0">
              <a:spcBef>
                <a:spcPts val="0"/>
              </a:spcBef>
              <a:buNone/>
              <a:defRPr sz="1000" b="0" i="0" u="none" strike="noStrike" cap="none">
                <a:solidFill>
                  <a:schemeClr val="accent3"/>
                </a:solidFill>
                <a:latin typeface="Calibri"/>
                <a:ea typeface="Calibri"/>
                <a:cs typeface="Calibri"/>
                <a:sym typeface="Calibri"/>
              </a:defRPr>
            </a:lvl4pPr>
            <a:lvl5pPr marL="0" marR="0" lvl="4" indent="0" algn="r" rtl="0">
              <a:spcBef>
                <a:spcPts val="0"/>
              </a:spcBef>
              <a:buNone/>
              <a:defRPr sz="1000" b="0" i="0" u="none" strike="noStrike" cap="none">
                <a:solidFill>
                  <a:schemeClr val="accent3"/>
                </a:solidFill>
                <a:latin typeface="Calibri"/>
                <a:ea typeface="Calibri"/>
                <a:cs typeface="Calibri"/>
                <a:sym typeface="Calibri"/>
              </a:defRPr>
            </a:lvl5pPr>
            <a:lvl6pPr marL="0" marR="0" lvl="5" indent="0" algn="r" rtl="0">
              <a:spcBef>
                <a:spcPts val="0"/>
              </a:spcBef>
              <a:buNone/>
              <a:defRPr sz="1000" b="0" i="0" u="none" strike="noStrike" cap="none">
                <a:solidFill>
                  <a:schemeClr val="accent3"/>
                </a:solidFill>
                <a:latin typeface="Calibri"/>
                <a:ea typeface="Calibri"/>
                <a:cs typeface="Calibri"/>
                <a:sym typeface="Calibri"/>
              </a:defRPr>
            </a:lvl6pPr>
            <a:lvl7pPr marL="0" marR="0" lvl="6" indent="0" algn="r" rtl="0">
              <a:spcBef>
                <a:spcPts val="0"/>
              </a:spcBef>
              <a:buNone/>
              <a:defRPr sz="1000" b="0" i="0" u="none" strike="noStrike" cap="none">
                <a:solidFill>
                  <a:schemeClr val="accent3"/>
                </a:solidFill>
                <a:latin typeface="Calibri"/>
                <a:ea typeface="Calibri"/>
                <a:cs typeface="Calibri"/>
                <a:sym typeface="Calibri"/>
              </a:defRPr>
            </a:lvl7pPr>
            <a:lvl8pPr marL="0" marR="0" lvl="7" indent="0" algn="r" rtl="0">
              <a:spcBef>
                <a:spcPts val="0"/>
              </a:spcBef>
              <a:buNone/>
              <a:defRPr sz="1000" b="0" i="0" u="none" strike="noStrike" cap="none">
                <a:solidFill>
                  <a:schemeClr val="accent3"/>
                </a:solidFill>
                <a:latin typeface="Calibri"/>
                <a:ea typeface="Calibri"/>
                <a:cs typeface="Calibri"/>
                <a:sym typeface="Calibri"/>
              </a:defRPr>
            </a:lvl8pPr>
            <a:lvl9pPr marL="0" marR="0" lvl="8" indent="0" algn="r" rtl="0">
              <a:spcBef>
                <a:spcPts val="0"/>
              </a:spcBef>
              <a:buNone/>
              <a:defRPr sz="1000" b="0" i="0" u="none" strike="noStrike" cap="none">
                <a:solidFill>
                  <a:schemeClr val="accent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PX2111/COM4401-2026-AS36-4V2/blob/main/01_Computing_Fundamentals/01_Contributions/J.I.C..sql"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PX2111/COM4401-2026-AS36-4V2/blob/main/01_Computing_Fundamentals/01_Contributions/J.I.C..sql"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PX2111/COM4401-2026-AS36-4V2/blob/main/02_Software_Engineering/02_Contributions/PizzaOrderHandler.fprg"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PX2111/COM4401-2026-AS36-4V2/blob/main/03_Networking_Fundamentals/03_Contributions/pandelis%20filius%20project%20presentation%201.fls"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BrianAhmed-08/brians-public-repository/blob/main/Brians%20report%20on%20MFA.md"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640080" y="457200"/>
            <a:ext cx="78638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600"/>
              <a:buFont typeface="Calibri"/>
              <a:buNone/>
            </a:pPr>
            <a:r>
              <a:rPr lang="en-US"/>
              <a:t>Introduction to Computing</a:t>
            </a:r>
            <a:endParaRPr sz="3600"/>
          </a:p>
        </p:txBody>
      </p:sp>
      <p:sp>
        <p:nvSpPr>
          <p:cNvPr id="22" name="Google Shape;22;p4"/>
          <p:cNvSpPr txBox="1"/>
          <p:nvPr/>
        </p:nvSpPr>
        <p:spPr>
          <a:xfrm>
            <a:off x="640080" y="1067210"/>
            <a:ext cx="7863900" cy="2743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800"/>
              <a:buFont typeface="Calibri"/>
              <a:buNone/>
            </a:pPr>
            <a:r>
              <a:rPr lang="en-US" sz="3000" b="1" i="0" u="none" strike="noStrike" cap="none">
                <a:solidFill>
                  <a:schemeClr val="accent2"/>
                </a:solidFill>
                <a:latin typeface="Calibri"/>
                <a:ea typeface="Calibri"/>
                <a:cs typeface="Calibri"/>
                <a:sym typeface="Calibri"/>
              </a:rPr>
              <a:t>[</a:t>
            </a:r>
            <a:r>
              <a:rPr lang="en-US" sz="3000" b="1">
                <a:solidFill>
                  <a:schemeClr val="accent2"/>
                </a:solidFill>
                <a:latin typeface="Calibri"/>
                <a:ea typeface="Calibri"/>
                <a:cs typeface="Calibri"/>
                <a:sym typeface="Calibri"/>
              </a:rPr>
              <a:t>Brian</a:t>
            </a:r>
            <a:r>
              <a:rPr lang="en-US" sz="3000" b="1" i="0" u="none" strike="noStrike" cap="none">
                <a:solidFill>
                  <a:schemeClr val="accent2"/>
                </a:solidFill>
                <a:latin typeface="Calibri"/>
                <a:ea typeface="Calibri"/>
                <a:cs typeface="Calibri"/>
                <a:sym typeface="Calibri"/>
              </a:rPr>
              <a:t>]</a:t>
            </a:r>
            <a:endParaRPr sz="3000" b="0" i="0" u="none" strike="noStrike" cap="none">
              <a:solidFill>
                <a:schemeClr val="dk1"/>
              </a:solidFill>
              <a:latin typeface="Calibri"/>
              <a:ea typeface="Calibri"/>
              <a:cs typeface="Calibri"/>
              <a:sym typeface="Calibri"/>
            </a:endParaRPr>
          </a:p>
          <a:p>
            <a:pPr marL="0" marR="0" lvl="0" indent="0" algn="l" rtl="0">
              <a:spcBef>
                <a:spcPts val="600"/>
              </a:spcBef>
              <a:spcAft>
                <a:spcPts val="0"/>
              </a:spcAft>
              <a:buClr>
                <a:schemeClr val="accent2"/>
              </a:buClr>
              <a:buSzPts val="1800"/>
              <a:buFont typeface="Calibri"/>
              <a:buNone/>
            </a:pPr>
            <a:r>
              <a:rPr lang="en-US" sz="3000" b="1" i="0" u="none" strike="noStrike" cap="none">
                <a:solidFill>
                  <a:schemeClr val="accent2"/>
                </a:solidFill>
                <a:latin typeface="Calibri"/>
                <a:ea typeface="Calibri"/>
                <a:cs typeface="Calibri"/>
                <a:sym typeface="Calibri"/>
              </a:rPr>
              <a:t>[</a:t>
            </a:r>
            <a:r>
              <a:rPr lang="en-US" sz="3000" b="1">
                <a:solidFill>
                  <a:schemeClr val="accent2"/>
                </a:solidFill>
                <a:latin typeface="Calibri"/>
                <a:ea typeface="Calibri"/>
                <a:cs typeface="Calibri"/>
                <a:sym typeface="Calibri"/>
              </a:rPr>
              <a:t>Henry</a:t>
            </a:r>
            <a:r>
              <a:rPr lang="en-US" sz="3000" b="1" i="0" u="none" strike="noStrike" cap="none">
                <a:solidFill>
                  <a:schemeClr val="accent2"/>
                </a:solidFill>
                <a:latin typeface="Calibri"/>
                <a:ea typeface="Calibri"/>
                <a:cs typeface="Calibri"/>
                <a:sym typeface="Calibri"/>
              </a:rPr>
              <a:t>]</a:t>
            </a:r>
            <a:endParaRPr sz="3000" b="0" i="0" u="none" strike="noStrike" cap="none">
              <a:solidFill>
                <a:schemeClr val="dk1"/>
              </a:solidFill>
              <a:latin typeface="Calibri"/>
              <a:ea typeface="Calibri"/>
              <a:cs typeface="Calibri"/>
              <a:sym typeface="Calibri"/>
            </a:endParaRPr>
          </a:p>
          <a:p>
            <a:pPr marL="0" marR="0" lvl="0" indent="0" algn="l" rtl="0">
              <a:spcBef>
                <a:spcPts val="600"/>
              </a:spcBef>
              <a:spcAft>
                <a:spcPts val="0"/>
              </a:spcAft>
              <a:buClr>
                <a:schemeClr val="accent2"/>
              </a:buClr>
              <a:buSzPts val="1800"/>
              <a:buFont typeface="Calibri"/>
              <a:buNone/>
            </a:pPr>
            <a:r>
              <a:rPr lang="en-US" sz="3000" b="1" i="0" u="none" strike="noStrike" cap="none">
                <a:solidFill>
                  <a:schemeClr val="accent2"/>
                </a:solidFill>
                <a:latin typeface="Calibri"/>
                <a:ea typeface="Calibri"/>
                <a:cs typeface="Calibri"/>
                <a:sym typeface="Calibri"/>
              </a:rPr>
              <a:t>[</a:t>
            </a:r>
            <a:r>
              <a:rPr lang="en-US" sz="3000" b="1">
                <a:solidFill>
                  <a:schemeClr val="accent2"/>
                </a:solidFill>
                <a:latin typeface="Calibri"/>
                <a:ea typeface="Calibri"/>
                <a:cs typeface="Calibri"/>
                <a:sym typeface="Calibri"/>
              </a:rPr>
              <a:t>Wayne</a:t>
            </a:r>
            <a:r>
              <a:rPr lang="en-US" sz="3000" b="1" i="0" u="none" strike="noStrike" cap="none">
                <a:solidFill>
                  <a:schemeClr val="accent2"/>
                </a:solidFill>
                <a:latin typeface="Calibri"/>
                <a:ea typeface="Calibri"/>
                <a:cs typeface="Calibri"/>
                <a:sym typeface="Calibri"/>
              </a:rPr>
              <a:t>]</a:t>
            </a:r>
            <a:endParaRPr sz="3000" b="0" i="0" u="none" strike="noStrike" cap="none">
              <a:solidFill>
                <a:schemeClr val="dk1"/>
              </a:solidFill>
              <a:latin typeface="Calibri"/>
              <a:ea typeface="Calibri"/>
              <a:cs typeface="Calibri"/>
              <a:sym typeface="Calibri"/>
            </a:endParaRPr>
          </a:p>
          <a:p>
            <a:pPr marL="0" marR="0" lvl="0" indent="0" algn="l" rtl="0">
              <a:spcBef>
                <a:spcPts val="600"/>
              </a:spcBef>
              <a:spcAft>
                <a:spcPts val="0"/>
              </a:spcAft>
              <a:buClr>
                <a:schemeClr val="accent2"/>
              </a:buClr>
              <a:buSzPts val="1800"/>
              <a:buFont typeface="Calibri"/>
              <a:buNone/>
            </a:pPr>
            <a:r>
              <a:rPr lang="en-US" sz="3000" b="1" i="0" u="none" strike="noStrike" cap="none">
                <a:solidFill>
                  <a:schemeClr val="accent2"/>
                </a:solidFill>
                <a:latin typeface="Calibri"/>
                <a:ea typeface="Calibri"/>
                <a:cs typeface="Calibri"/>
                <a:sym typeface="Calibri"/>
              </a:rPr>
              <a:t>[</a:t>
            </a:r>
            <a:r>
              <a:rPr lang="en-US" sz="3000" b="1">
                <a:solidFill>
                  <a:schemeClr val="accent2"/>
                </a:solidFill>
                <a:latin typeface="Calibri"/>
                <a:ea typeface="Calibri"/>
                <a:cs typeface="Calibri"/>
                <a:sym typeface="Calibri"/>
              </a:rPr>
              <a:t>Haneef</a:t>
            </a:r>
            <a:r>
              <a:rPr lang="en-US" sz="3000" b="1" i="0" u="none" strike="noStrike" cap="none">
                <a:solidFill>
                  <a:schemeClr val="accent2"/>
                </a:solidFill>
                <a:latin typeface="Calibri"/>
                <a:ea typeface="Calibri"/>
                <a:cs typeface="Calibri"/>
                <a:sym typeface="Calibri"/>
              </a:rPr>
              <a:t>]</a:t>
            </a:r>
            <a:endParaRPr sz="3000" b="0" i="0" u="none" strike="noStrike" cap="none">
              <a:solidFill>
                <a:schemeClr val="dk1"/>
              </a:solidFill>
              <a:latin typeface="Calibri"/>
              <a:ea typeface="Calibri"/>
              <a:cs typeface="Calibri"/>
              <a:sym typeface="Calibri"/>
            </a:endParaRPr>
          </a:p>
          <a:p>
            <a:pPr marL="0" marR="0" lvl="0" indent="0" algn="l" rtl="0">
              <a:spcBef>
                <a:spcPts val="600"/>
              </a:spcBef>
              <a:spcAft>
                <a:spcPts val="0"/>
              </a:spcAft>
              <a:buClr>
                <a:schemeClr val="accent2"/>
              </a:buClr>
              <a:buSzPts val="1800"/>
              <a:buFont typeface="Calibri"/>
              <a:buNone/>
            </a:pPr>
            <a:r>
              <a:rPr lang="en-US" sz="3000" b="1" i="0" u="none" strike="noStrike" cap="none">
                <a:solidFill>
                  <a:schemeClr val="accent2"/>
                </a:solidFill>
                <a:latin typeface="Calibri"/>
                <a:ea typeface="Calibri"/>
                <a:cs typeface="Calibri"/>
                <a:sym typeface="Calibri"/>
              </a:rPr>
              <a:t>[</a:t>
            </a:r>
            <a:r>
              <a:rPr lang="en-US" sz="3000" b="1">
                <a:solidFill>
                  <a:schemeClr val="accent2"/>
                </a:solidFill>
                <a:latin typeface="Calibri"/>
                <a:ea typeface="Calibri"/>
                <a:cs typeface="Calibri"/>
                <a:sym typeface="Calibri"/>
              </a:rPr>
              <a:t>Pandeli</a:t>
            </a:r>
            <a:r>
              <a:rPr lang="en-US" sz="3000" b="1" i="0" u="none" strike="noStrike" cap="none">
                <a:solidFill>
                  <a:schemeClr val="accent2"/>
                </a:solidFill>
                <a:latin typeface="Calibri"/>
                <a:ea typeface="Calibri"/>
                <a:cs typeface="Calibri"/>
                <a:sym typeface="Calibri"/>
              </a:rPr>
              <a:t>]</a:t>
            </a:r>
            <a:endParaRPr lang="en-GB" sz="3000" b="0" i="0" u="none" strike="noStrike" cap="none">
              <a:solidFill>
                <a:schemeClr val="accent2"/>
              </a:solidFill>
              <a:latin typeface="Calibri"/>
              <a:ea typeface="Calibri"/>
              <a:cs typeface="Calibri"/>
              <a:sym typeface="Calibri"/>
            </a:endParaRPr>
          </a:p>
        </p:txBody>
      </p:sp>
      <p:sp>
        <p:nvSpPr>
          <p:cNvPr id="23" name="Google Shape;23;p4"/>
          <p:cNvSpPr txBox="1">
            <a:spLocks noGrp="1"/>
          </p:cNvSpPr>
          <p:nvPr>
            <p:ph type="sldNum" idx="4294967295"/>
          </p:nvPr>
        </p:nvSpPr>
        <p:spPr>
          <a:xfrm>
            <a:off x="8046720" y="470916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3"/>
                </a:solidFill>
                <a:latin typeface="Calibri"/>
                <a:ea typeface="Calibri"/>
                <a:cs typeface="Calibri"/>
                <a:sym typeface="Calibri"/>
              </a:rPr>
              <a:t>1</a:t>
            </a:fld>
            <a:endParaRPr sz="1000" b="0" i="0" u="none" strike="noStrike" cap="none">
              <a:solidFill>
                <a:schemeClr val="accent3"/>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07D61CDF-7117-84D1-1722-C3A0461D8A72}"/>
              </a:ext>
            </a:extLst>
          </p:cNvPr>
          <p:cNvPicPr>
            <a:picLocks noChangeAspect="1"/>
          </p:cNvPicPr>
          <p:nvPr/>
        </p:nvPicPr>
        <p:blipFill>
          <a:blip r:embed="rId3"/>
          <a:stretch>
            <a:fillRect/>
          </a:stretch>
        </p:blipFill>
        <p:spPr>
          <a:xfrm>
            <a:off x="3452979" y="1063869"/>
            <a:ext cx="5051581" cy="39565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640080" y="457200"/>
            <a:ext cx="78638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600"/>
              <a:buFont typeface="Calibri"/>
              <a:buNone/>
            </a:pPr>
            <a:r>
              <a:rPr lang="en-US"/>
              <a:t>F</a:t>
            </a:r>
            <a:r>
              <a:rPr lang="en-US" sz="3600">
                <a:solidFill>
                  <a:schemeClr val="dk1"/>
                </a:solidFill>
              </a:rPr>
              <a:t>our mini demos + Meet the team</a:t>
            </a:r>
            <a:endParaRPr sz="3600"/>
          </a:p>
        </p:txBody>
      </p:sp>
      <p:sp>
        <p:nvSpPr>
          <p:cNvPr id="39" name="Google Shape;39;p6"/>
          <p:cNvSpPr txBox="1"/>
          <p:nvPr/>
        </p:nvSpPr>
        <p:spPr>
          <a:xfrm>
            <a:off x="640080" y="1431388"/>
            <a:ext cx="7863840" cy="2286000"/>
          </a:xfrm>
          <a:prstGeom prst="rect">
            <a:avLst/>
          </a:prstGeom>
          <a:noFill/>
          <a:ln>
            <a:noFill/>
          </a:ln>
        </p:spPr>
        <p:txBody>
          <a:bodyPr spcFirstLastPara="1" wrap="square" lIns="0" tIns="0" rIns="0" bIns="0" anchor="t" anchorCtr="0">
            <a:noAutofit/>
          </a:bodyPr>
          <a:lstStyle/>
          <a:p>
            <a:pPr>
              <a:buClr>
                <a:schemeClr val="dk1"/>
              </a:buClr>
              <a:buSzPts val="1800"/>
            </a:pPr>
            <a:r>
              <a:rPr lang="en-US" sz="1800" b="1">
                <a:solidFill>
                  <a:schemeClr val="dk1"/>
                </a:solidFill>
                <a:latin typeface="Calibri"/>
                <a:ea typeface="Calibri"/>
                <a:cs typeface="Calibri"/>
              </a:rPr>
              <a:t>Introduction: </a:t>
            </a:r>
            <a:endParaRPr lang="en-US" sz="1800">
              <a:solidFill>
                <a:schemeClr val="dk1"/>
              </a:solidFill>
              <a:latin typeface="Calibri"/>
              <a:ea typeface="Calibri"/>
              <a:cs typeface="Calibri"/>
            </a:endParaRPr>
          </a:p>
          <a:p>
            <a:pPr marL="0" marR="0" lvl="0" indent="0" algn="l">
              <a:spcBef>
                <a:spcPts val="0"/>
              </a:spcBef>
              <a:spcAft>
                <a:spcPts val="0"/>
              </a:spcAft>
              <a:buSzPts val="1800"/>
              <a:buFont typeface="Calibri"/>
              <a:buNone/>
            </a:pPr>
            <a:r>
              <a:rPr lang="en-US" sz="1800" b="1" i="0" u="none" strike="noStrike" cap="none">
                <a:solidFill>
                  <a:schemeClr val="dk1"/>
                </a:solidFill>
                <a:latin typeface="Calibri"/>
                <a:ea typeface="Calibri"/>
                <a:cs typeface="Calibri"/>
                <a:sym typeface="Calibri"/>
              </a:rPr>
              <a:t>MP1 Computing:</a:t>
            </a:r>
            <a:r>
              <a:rPr lang="en-US" sz="1800" b="0" i="0" u="none" strike="noStrike" cap="none">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Wayne + Haneef</a:t>
            </a:r>
            <a:endParaRPr lang="en-GB" sz="1800" b="0" i="0" u="none" strike="noStrike" cap="none">
              <a:solidFill>
                <a:schemeClr val="dk1"/>
              </a:solidFill>
              <a:latin typeface="Calibri"/>
              <a:ea typeface="Calibri"/>
              <a:cs typeface="Calibri"/>
            </a:endParaRPr>
          </a:p>
          <a:p>
            <a:pPr>
              <a:buClr>
                <a:schemeClr val="dk1"/>
              </a:buClr>
              <a:buSzPts val="1800"/>
            </a:pPr>
            <a:r>
              <a:rPr lang="en-US" sz="1800" b="1" i="0" u="none" strike="noStrike" cap="none">
                <a:solidFill>
                  <a:schemeClr val="dk1"/>
                </a:solidFill>
                <a:latin typeface="Calibri"/>
                <a:ea typeface="Calibri"/>
                <a:cs typeface="Calibri"/>
                <a:sym typeface="Calibri"/>
              </a:rPr>
              <a:t>MP2 Software</a:t>
            </a:r>
            <a:r>
              <a:rPr lang="en-US" sz="1800" b="1">
                <a:solidFill>
                  <a:schemeClr val="dk1"/>
                </a:solidFill>
                <a:latin typeface="Calibri"/>
                <a:ea typeface="Calibri"/>
                <a:cs typeface="Calibri"/>
                <a:sym typeface="Calibri"/>
              </a:rPr>
              <a:t> Development</a:t>
            </a:r>
            <a:r>
              <a:rPr lang="en-US" sz="1800" b="1" i="0" u="none" strike="noStrike" cap="none">
                <a:solidFill>
                  <a:schemeClr val="dk1"/>
                </a:solidFill>
                <a:latin typeface="Calibri"/>
                <a:ea typeface="Calibri"/>
                <a:cs typeface="Calibri"/>
                <a:sym typeface="Calibri"/>
              </a:rPr>
              <a:t>:</a:t>
            </a:r>
            <a:r>
              <a:rPr lang="en-US" sz="1800" b="0" i="0" u="none" strike="noStrike" cap="none">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Henry</a:t>
            </a: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MP3 Networking:</a:t>
            </a:r>
            <a:r>
              <a:rPr lang="en-US" sz="1800" b="0" i="0" u="none" strike="noStrike" cap="none">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Pandeli</a:t>
            </a:r>
            <a:endParaRPr sz="1800" b="0" i="0" u="none" strike="noStrike" cap="none">
              <a:solidFill>
                <a:schemeClr val="dk1"/>
              </a:solidFill>
              <a:latin typeface="Calibri"/>
              <a:ea typeface="Calibri"/>
              <a:cs typeface="Calibri"/>
              <a:sym typeface="Calibri"/>
            </a:endParaRPr>
          </a:p>
          <a:p>
            <a:pPr>
              <a:buClr>
                <a:schemeClr val="dk1"/>
              </a:buClr>
              <a:buSzPts val="1800"/>
            </a:pPr>
            <a:r>
              <a:rPr lang="en-US" sz="1800" b="1" i="0" u="none" strike="noStrike" cap="none">
                <a:solidFill>
                  <a:schemeClr val="dk1"/>
                </a:solidFill>
                <a:latin typeface="Calibri"/>
                <a:ea typeface="Calibri"/>
                <a:cs typeface="Calibri"/>
                <a:sym typeface="Calibri"/>
              </a:rPr>
              <a:t>MP4 </a:t>
            </a:r>
            <a:r>
              <a:rPr lang="en-US" sz="1800" b="1">
                <a:solidFill>
                  <a:schemeClr val="dk1"/>
                </a:solidFill>
                <a:latin typeface="Calibri"/>
                <a:ea typeface="Calibri"/>
                <a:cs typeface="Calibri"/>
                <a:sym typeface="Calibri"/>
              </a:rPr>
              <a:t>Cyber-Security</a:t>
            </a:r>
            <a:r>
              <a:rPr lang="en-US" sz="1800" b="1" i="0" u="none" strike="noStrike" cap="none">
                <a:solidFill>
                  <a:schemeClr val="dk1"/>
                </a:solidFill>
                <a:latin typeface="Calibri"/>
                <a:ea typeface="Calibri"/>
                <a:cs typeface="Calibri"/>
                <a:sym typeface="Calibri"/>
              </a:rPr>
              <a:t>:</a:t>
            </a:r>
            <a:r>
              <a:rPr lang="en-US" sz="1800" b="0" i="0" u="none" strike="noStrike" cap="none">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Brian</a:t>
            </a: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Reflection and GA:I</a:t>
            </a:r>
            <a:r>
              <a:rPr lang="en-US" sz="1800" b="0" i="0" u="none" strike="noStrike" cap="none">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Team Task</a:t>
            </a: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Conclusion:</a:t>
            </a:r>
            <a:r>
              <a:rPr lang="en-US" sz="1800" b="0" i="0" u="none" strike="noStrike" cap="none">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Team Task</a:t>
            </a:r>
            <a:endParaRPr sz="1800" b="0" i="0" u="none" strike="noStrike" cap="none">
              <a:solidFill>
                <a:schemeClr val="dk1"/>
              </a:solidFill>
              <a:latin typeface="Calibri"/>
              <a:ea typeface="Calibri"/>
              <a:cs typeface="Calibri"/>
              <a:sym typeface="Calibri"/>
            </a:endParaRPr>
          </a:p>
        </p:txBody>
      </p:sp>
      <p:sp>
        <p:nvSpPr>
          <p:cNvPr id="40" name="Google Shape;40;p6"/>
          <p:cNvSpPr txBox="1">
            <a:spLocks noGrp="1"/>
          </p:cNvSpPr>
          <p:nvPr>
            <p:ph type="sldNum" idx="4294967295"/>
          </p:nvPr>
        </p:nvSpPr>
        <p:spPr>
          <a:xfrm>
            <a:off x="8046720" y="470916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3"/>
                </a:solidFill>
                <a:latin typeface="Calibri"/>
                <a:ea typeface="Calibri"/>
                <a:cs typeface="Calibri"/>
                <a:sym typeface="Calibri"/>
              </a:rPr>
              <a:t>2</a:t>
            </a:fld>
            <a:endParaRPr sz="1000" b="0" i="0" u="none" strike="noStrike" cap="none">
              <a:solidFill>
                <a:schemeClr val="accent3"/>
              </a:solidFill>
              <a:latin typeface="Calibri"/>
              <a:ea typeface="Calibri"/>
              <a:cs typeface="Calibri"/>
              <a:sym typeface="Calibri"/>
            </a:endParaRPr>
          </a:p>
        </p:txBody>
      </p:sp>
      <p:grpSp>
        <p:nvGrpSpPr>
          <p:cNvPr id="6" name="Group 5">
            <a:extLst>
              <a:ext uri="{FF2B5EF4-FFF2-40B4-BE49-F238E27FC236}">
                <a16:creationId xmlns:a16="http://schemas.microsoft.com/office/drawing/2014/main" id="{9E39FDD4-CEFF-54CF-E3A6-A51F3A1DBA88}"/>
              </a:ext>
            </a:extLst>
          </p:cNvPr>
          <p:cNvGrpSpPr/>
          <p:nvPr/>
        </p:nvGrpSpPr>
        <p:grpSpPr>
          <a:xfrm>
            <a:off x="3891170" y="988115"/>
            <a:ext cx="5055703" cy="3390900"/>
            <a:chOff x="4678018" y="1195180"/>
            <a:chExt cx="5055703" cy="3390900"/>
          </a:xfrm>
        </p:grpSpPr>
        <p:pic>
          <p:nvPicPr>
            <p:cNvPr id="4" name="Graphic 3">
              <a:extLst>
                <a:ext uri="{FF2B5EF4-FFF2-40B4-BE49-F238E27FC236}">
                  <a16:creationId xmlns:a16="http://schemas.microsoft.com/office/drawing/2014/main" id="{733C6F5D-3946-9F43-B543-54F1C4F0A9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8018" y="1195180"/>
              <a:ext cx="3374334" cy="3390900"/>
            </a:xfrm>
            <a:prstGeom prst="rect">
              <a:avLst/>
            </a:prstGeom>
          </p:spPr>
        </p:pic>
        <p:pic>
          <p:nvPicPr>
            <p:cNvPr id="5" name="Graphic 4">
              <a:extLst>
                <a:ext uri="{FF2B5EF4-FFF2-40B4-BE49-F238E27FC236}">
                  <a16:creationId xmlns:a16="http://schemas.microsoft.com/office/drawing/2014/main" id="{4305E94A-D8D3-C07D-C150-337D4A6C6E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59387" y="1195180"/>
              <a:ext cx="3374334" cy="3390900"/>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40080" y="211463"/>
            <a:ext cx="78638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600"/>
              <a:buFont typeface="Calibri"/>
              <a:buNone/>
            </a:pPr>
            <a:r>
              <a:rPr lang="en-US"/>
              <a:t>MP1: Computing</a:t>
            </a:r>
            <a:endParaRPr sz="3600"/>
          </a:p>
        </p:txBody>
      </p:sp>
      <p:sp>
        <p:nvSpPr>
          <p:cNvPr id="47" name="Google Shape;47;p7"/>
          <p:cNvSpPr txBox="1"/>
          <p:nvPr/>
        </p:nvSpPr>
        <p:spPr>
          <a:xfrm>
            <a:off x="640020" y="803771"/>
            <a:ext cx="7863900" cy="3040380"/>
          </a:xfrm>
          <a:prstGeom prst="rect">
            <a:avLst/>
          </a:prstGeom>
          <a:noFill/>
          <a:ln>
            <a:noFill/>
          </a:ln>
        </p:spPr>
        <p:txBody>
          <a:bodyPr spcFirstLastPara="1" wrap="square" lIns="0" tIns="0" rIns="0" bIns="0" anchor="t" anchorCtr="0">
            <a:noAutofit/>
          </a:bodyPr>
          <a:lstStyle/>
          <a:p>
            <a:pPr>
              <a:buClr>
                <a:schemeClr val="accent2"/>
              </a:buClr>
              <a:buSzPts val="2000"/>
            </a:pPr>
            <a:r>
              <a:rPr lang="en-US" sz="2000" b="1">
                <a:solidFill>
                  <a:schemeClr val="accent2"/>
                </a:solidFill>
                <a:latin typeface="Calibri"/>
                <a:ea typeface="Calibri"/>
                <a:cs typeface="Calibri"/>
                <a:sym typeface="Calibri"/>
              </a:rPr>
              <a:t>The problem : </a:t>
            </a:r>
            <a:r>
              <a:rPr lang="en-US" sz="2000">
                <a:solidFill>
                  <a:schemeClr val="dk1"/>
                </a:solidFill>
                <a:latin typeface="Calibri"/>
                <a:ea typeface="Calibri"/>
                <a:cs typeface="Calibri"/>
                <a:sym typeface="Calibri"/>
              </a:rPr>
              <a:t>The clients were northwest architecture LTD and they needed new PC'S for 4 different roles but they need to be built specifically to match the roles and different use each staff will have for each PC. Each PC needs to meet the employee's requirements and provide suitable performance whilst still being within the budget of the company. </a:t>
            </a:r>
            <a:endParaRPr lang="en-US" sz="2000" b="0" i="0" u="none" strike="noStrike" cap="none">
              <a:solidFill>
                <a:schemeClr val="dk1"/>
              </a:solidFill>
              <a:latin typeface="Calibri"/>
              <a:ea typeface="Calibri"/>
              <a:cs typeface="Calibri"/>
            </a:endParaRPr>
          </a:p>
          <a:p>
            <a:pPr>
              <a:buClr>
                <a:schemeClr val="accent2"/>
              </a:buClr>
              <a:buSzPts val="2000"/>
            </a:pPr>
            <a:r>
              <a:rPr lang="en-US" sz="2000" b="1" i="0" u="none" strike="noStrike" cap="none">
                <a:solidFill>
                  <a:schemeClr val="accent2"/>
                </a:solidFill>
                <a:latin typeface="Calibri"/>
                <a:ea typeface="Calibri"/>
                <a:cs typeface="Calibri"/>
                <a:sym typeface="Calibri"/>
              </a:rPr>
              <a:t>PC architecture </a:t>
            </a:r>
            <a:r>
              <a:rPr lang="en-US" sz="2000" b="1">
                <a:solidFill>
                  <a:schemeClr val="accent2"/>
                </a:solidFill>
                <a:latin typeface="Calibri"/>
                <a:ea typeface="Calibri"/>
                <a:cs typeface="Calibri"/>
                <a:sym typeface="Calibri"/>
              </a:rPr>
              <a:t>:</a:t>
            </a:r>
          </a:p>
          <a:p>
            <a:pPr>
              <a:buSzPts val="2000"/>
            </a:pPr>
            <a:r>
              <a:rPr lang="en-US" sz="2000" b="1">
                <a:solidFill>
                  <a:schemeClr val="dk1"/>
                </a:solidFill>
                <a:latin typeface="Calibri"/>
                <a:ea typeface="Calibri"/>
                <a:cs typeface="Calibri"/>
                <a:sym typeface="Calibri"/>
              </a:rPr>
              <a:t>Administrative Assistant- Henry and Wayne</a:t>
            </a:r>
            <a:endParaRPr lang="en-US" sz="2000" b="1">
              <a:solidFill>
                <a:schemeClr val="dk1"/>
              </a:solidFill>
              <a:latin typeface="Calibri"/>
              <a:ea typeface="Calibri"/>
              <a:cs typeface="Calibri"/>
            </a:endParaRPr>
          </a:p>
          <a:p>
            <a:pPr>
              <a:buSzPts val="2000"/>
            </a:pPr>
            <a:r>
              <a:rPr lang="en-US" sz="2000">
                <a:solidFill>
                  <a:schemeClr val="dk1"/>
                </a:solidFill>
                <a:latin typeface="Calibri"/>
                <a:ea typeface="Calibri"/>
                <a:cs typeface="Calibri"/>
                <a:sym typeface="Calibri"/>
              </a:rPr>
              <a:t>We focused on building affordable and reliable computers that would still be more than capable of handling your everyday tasks such as, emails, </a:t>
            </a:r>
            <a:r>
              <a:rPr lang="en-US" sz="2000" err="1">
                <a:solidFill>
                  <a:schemeClr val="dk1"/>
                </a:solidFill>
                <a:latin typeface="Calibri"/>
                <a:ea typeface="Calibri"/>
                <a:cs typeface="Calibri"/>
                <a:sym typeface="Calibri"/>
              </a:rPr>
              <a:t>microsoft</a:t>
            </a:r>
            <a:r>
              <a:rPr lang="en-US" sz="2000">
                <a:solidFill>
                  <a:schemeClr val="dk1"/>
                </a:solidFill>
                <a:latin typeface="Calibri"/>
                <a:ea typeface="Calibri"/>
                <a:cs typeface="Calibri"/>
                <a:sym typeface="Calibri"/>
              </a:rPr>
              <a:t> word, excel, and just managing documents in general. This role didn’t really require powerful processors or expensive graphic cards which helped to keep costs down. </a:t>
            </a:r>
            <a:endParaRPr lang="en-US" sz="2000">
              <a:solidFill>
                <a:schemeClr val="dk1"/>
              </a:solidFill>
              <a:latin typeface="Calibri"/>
              <a:ea typeface="Calibri"/>
              <a:cs typeface="Calibri"/>
            </a:endParaRPr>
          </a:p>
          <a:p>
            <a:pPr>
              <a:buSzPts val="2000"/>
            </a:pPr>
            <a:r>
              <a:rPr lang="en-US" sz="2000" b="1" i="0" u="none" strike="noStrike" cap="none">
                <a:solidFill>
                  <a:schemeClr val="accent2"/>
                </a:solidFill>
                <a:latin typeface="Calibri"/>
                <a:ea typeface="Calibri"/>
                <a:cs typeface="Calibri"/>
                <a:sym typeface="Calibri"/>
              </a:rPr>
              <a:t>SQL database </a:t>
            </a:r>
            <a:r>
              <a:rPr lang="en-US" sz="2000" b="1">
                <a:solidFill>
                  <a:schemeClr val="accent2"/>
                </a:solidFill>
                <a:latin typeface="Calibri"/>
                <a:ea typeface="Calibri"/>
                <a:cs typeface="Calibri"/>
                <a:sym typeface="Calibri"/>
              </a:rPr>
              <a:t>: </a:t>
            </a:r>
            <a:r>
              <a:rPr lang="en-US" sz="2000" b="1">
                <a:solidFill>
                  <a:schemeClr val="tx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click here</a:t>
            </a:r>
            <a:endParaRPr lang="en-US" sz="2000">
              <a:solidFill>
                <a:schemeClr val="tx1"/>
              </a:solidFill>
              <a:latin typeface="Calibri"/>
              <a:ea typeface="Calibri"/>
              <a:cs typeface="Calibri"/>
              <a:hlinkClick r:id="rId3">
                <a:extLst>
                  <a:ext uri="{A12FA001-AC4F-418D-AE19-62706E023703}">
                    <ahyp:hlinkClr xmlns:ahyp="http://schemas.microsoft.com/office/drawing/2018/hyperlinkcolor" val="tx"/>
                  </a:ext>
                </a:extLst>
              </a:hlinkClick>
            </a:endParaRPr>
          </a:p>
        </p:txBody>
      </p:sp>
      <p:sp>
        <p:nvSpPr>
          <p:cNvPr id="48" name="Google Shape;48;p7"/>
          <p:cNvSpPr txBox="1">
            <a:spLocks noGrp="1"/>
          </p:cNvSpPr>
          <p:nvPr>
            <p:ph type="sldNum" idx="4294967295"/>
          </p:nvPr>
        </p:nvSpPr>
        <p:spPr>
          <a:xfrm>
            <a:off x="8046720" y="470916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3"/>
                </a:solidFill>
                <a:latin typeface="Calibri"/>
                <a:ea typeface="Calibri"/>
                <a:cs typeface="Calibri"/>
                <a:sym typeface="Calibri"/>
              </a:rPr>
              <a:t>3</a:t>
            </a:fld>
            <a:endParaRPr sz="1000" b="0" i="0" u="none" strike="noStrike" cap="none">
              <a:solidFill>
                <a:schemeClr val="accent3"/>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D85412E-99CB-499C-05E9-B4F983B1ACEE}"/>
              </a:ext>
            </a:extLst>
          </p:cNvPr>
          <p:cNvSpPr txBox="1"/>
          <p:nvPr/>
        </p:nvSpPr>
        <p:spPr>
          <a:xfrm>
            <a:off x="308263" y="188297"/>
            <a:ext cx="8527473" cy="49552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latin typeface="Calibri"/>
                <a:ea typeface="Calibri"/>
                <a:cs typeface="Calibri"/>
              </a:rPr>
              <a:t>MP1: Computing p2</a:t>
            </a:r>
            <a:endParaRPr lang="en-US"/>
          </a:p>
          <a:p>
            <a:endParaRPr lang="en-GB" sz="2000">
              <a:latin typeface="Calibri"/>
              <a:ea typeface="Calibri"/>
              <a:cs typeface="Calibri"/>
            </a:endParaRPr>
          </a:p>
          <a:p>
            <a:r>
              <a:rPr lang="en-GB" sz="2000" b="1">
                <a:solidFill>
                  <a:schemeClr val="accent2"/>
                </a:solidFill>
                <a:latin typeface="Calibri"/>
                <a:ea typeface="Calibri"/>
                <a:cs typeface="Calibri"/>
              </a:rPr>
              <a:t>CAD Architect / Designer- Brian</a:t>
            </a:r>
            <a:r>
              <a:rPr lang="en-GB" sz="2000">
                <a:solidFill>
                  <a:schemeClr val="accent2"/>
                </a:solidFill>
                <a:latin typeface="Calibri"/>
                <a:ea typeface="Calibri"/>
                <a:cs typeface="Calibri"/>
              </a:rPr>
              <a:t> </a:t>
            </a:r>
          </a:p>
          <a:p>
            <a:r>
              <a:rPr lang="en-GB" sz="2000">
                <a:latin typeface="Calibri"/>
                <a:ea typeface="Calibri"/>
                <a:cs typeface="Calibri"/>
              </a:rPr>
              <a:t>These builds tend to need more powerful processors, reliable RAM and suitable graphics cards to handle the software, this would allow employees to be able to create detailed drawings without experiencing any slowness.</a:t>
            </a:r>
          </a:p>
          <a:p>
            <a:endParaRPr lang="en-GB" sz="2000" b="1">
              <a:latin typeface="Calibri"/>
              <a:ea typeface="Calibri"/>
              <a:cs typeface="Calibri"/>
            </a:endParaRPr>
          </a:p>
          <a:p>
            <a:r>
              <a:rPr lang="en-GB" sz="2000" b="1">
                <a:solidFill>
                  <a:schemeClr val="accent2"/>
                </a:solidFill>
                <a:latin typeface="Calibri"/>
                <a:ea typeface="Calibri"/>
                <a:cs typeface="Calibri"/>
              </a:rPr>
              <a:t>Project Manager- Pandeli </a:t>
            </a:r>
            <a:endParaRPr lang="en-GB">
              <a:solidFill>
                <a:schemeClr val="accent2"/>
              </a:solidFill>
            </a:endParaRPr>
          </a:p>
          <a:p>
            <a:r>
              <a:rPr lang="en-GB" sz="2000">
                <a:latin typeface="Calibri"/>
                <a:ea typeface="Calibri"/>
                <a:cs typeface="Calibri"/>
              </a:rPr>
              <a:t>Now these computers need to be able to handle multitasking, project planning and communication, on this we focused on reliable processors, enough RAM and also fast storage so that project managers would be able to use spreadsheets with no hassle, planning software and other apps at the same time. </a:t>
            </a:r>
          </a:p>
          <a:p>
            <a:endParaRPr lang="en-GB" sz="2000" b="1">
              <a:latin typeface="Calibri"/>
              <a:ea typeface="Calibri"/>
              <a:cs typeface="Calibri"/>
            </a:endParaRPr>
          </a:p>
          <a:p>
            <a:endParaRPr lang="en-GB" sz="2000" b="1">
              <a:latin typeface="Calibri"/>
              <a:ea typeface="Calibri"/>
              <a:cs typeface="Calibri"/>
            </a:endParaRPr>
          </a:p>
        </p:txBody>
      </p:sp>
    </p:spTree>
    <p:extLst>
      <p:ext uri="{BB962C8B-B14F-4D97-AF65-F5344CB8AC3E}">
        <p14:creationId xmlns:p14="http://schemas.microsoft.com/office/powerpoint/2010/main" val="4025355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3C5158-7BDC-1505-E6CA-B07EEFA492F5}"/>
              </a:ext>
            </a:extLst>
          </p:cNvPr>
          <p:cNvSpPr txBox="1"/>
          <p:nvPr/>
        </p:nvSpPr>
        <p:spPr>
          <a:xfrm>
            <a:off x="384489" y="263426"/>
            <a:ext cx="8226111" cy="46166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solidFill>
                  <a:schemeClr val="accent2"/>
                </a:solidFill>
                <a:latin typeface="Calibri"/>
                <a:ea typeface="Calibri"/>
                <a:cs typeface="Calibri"/>
              </a:rPr>
              <a:t>3D Visualisation Specialist- Haneef</a:t>
            </a:r>
            <a:endParaRPr lang="en-GB" sz="2000">
              <a:solidFill>
                <a:schemeClr val="accent2"/>
              </a:solidFill>
              <a:latin typeface="Calibri"/>
              <a:ea typeface="Calibri"/>
              <a:cs typeface="Calibri"/>
            </a:endParaRPr>
          </a:p>
          <a:p>
            <a:r>
              <a:rPr lang="en-GB" sz="2000">
                <a:latin typeface="Calibri"/>
                <a:ea typeface="Calibri"/>
                <a:cs typeface="Calibri"/>
              </a:rPr>
              <a:t>These builds require the highest performance graphically because employees would potentially be working with difficult 3D models, rendering and visualising software. Powerful graphics cards, processors and enough RAM was important to be able to ensure demanding tasks can be completed to a high standard. </a:t>
            </a:r>
          </a:p>
          <a:p>
            <a:pPr algn="l"/>
            <a:endParaRPr lang="en-GB"/>
          </a:p>
          <a:p>
            <a:r>
              <a:rPr lang="en-GB" sz="2000" b="1">
                <a:solidFill>
                  <a:schemeClr val="accent2"/>
                </a:solidFill>
                <a:latin typeface="Calibri"/>
                <a:ea typeface="Calibri"/>
                <a:cs typeface="Calibri"/>
              </a:rPr>
              <a:t>One Decision</a:t>
            </a:r>
          </a:p>
          <a:p>
            <a:r>
              <a:rPr lang="en-GB" sz="2000">
                <a:latin typeface="Calibri"/>
                <a:ea typeface="Calibri"/>
                <a:cs typeface="Calibri"/>
              </a:rPr>
              <a:t>For the administrative build we had personally decided to make It cost effective rather than proper high performative alternatives as it only has simple tasks to complete in comparison to the other roles and also mainly because this only needed to be able to do office basic roles. </a:t>
            </a:r>
          </a:p>
          <a:p>
            <a:endParaRPr lang="en-GB" sz="2000">
              <a:latin typeface="Calibri"/>
              <a:ea typeface="Calibri"/>
              <a:cs typeface="Calibri"/>
            </a:endParaRPr>
          </a:p>
          <a:p>
            <a:r>
              <a:rPr lang="en-GB" sz="2000">
                <a:latin typeface="Calibri"/>
                <a:ea typeface="Calibri"/>
                <a:cs typeface="Calibri"/>
              </a:rPr>
              <a:t>The final build for this was £889.64  which was way under budget while still providing more than enough performance for the role</a:t>
            </a:r>
          </a:p>
        </p:txBody>
      </p:sp>
    </p:spTree>
    <p:extLst>
      <p:ext uri="{BB962C8B-B14F-4D97-AF65-F5344CB8AC3E}">
        <p14:creationId xmlns:p14="http://schemas.microsoft.com/office/powerpoint/2010/main" val="2978420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640080" y="457200"/>
            <a:ext cx="78638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600"/>
              <a:buFont typeface="Calibri"/>
              <a:buNone/>
            </a:pPr>
            <a:r>
              <a:rPr lang="en-US" sz="3600">
                <a:solidFill>
                  <a:schemeClr val="dk1"/>
                </a:solidFill>
              </a:rPr>
              <a:t>Mini demo: query live data</a:t>
            </a:r>
            <a:endParaRPr sz="3600"/>
          </a:p>
        </p:txBody>
      </p:sp>
      <p:sp>
        <p:nvSpPr>
          <p:cNvPr id="63" name="Google Shape;63;p9"/>
          <p:cNvSpPr txBox="1"/>
          <p:nvPr/>
        </p:nvSpPr>
        <p:spPr>
          <a:xfrm>
            <a:off x="640080" y="1019755"/>
            <a:ext cx="4671549" cy="2743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2000"/>
              <a:buFont typeface="Calibri"/>
              <a:buNone/>
            </a:pPr>
            <a:r>
              <a:rPr lang="en-US" sz="2000" b="1" i="0" u="none" strike="noStrike" cap="none">
                <a:solidFill>
                  <a:schemeClr val="accent2"/>
                </a:solidFill>
                <a:latin typeface="Calibri"/>
                <a:ea typeface="Calibri"/>
                <a:cs typeface="Calibri"/>
                <a:sym typeface="Calibri"/>
              </a:rPr>
              <a:t>Open </a:t>
            </a:r>
            <a:r>
              <a:rPr lang="en-US" sz="2000" i="0" u="none" strike="noStrike" cap="none">
                <a:solidFill>
                  <a:schemeClr val="tx1"/>
                </a:solidFill>
                <a:latin typeface="Calibri"/>
                <a:ea typeface="Calibri"/>
                <a:cs typeface="Calibri"/>
                <a:sym typeface="Calibri"/>
              </a:rPr>
              <a:t> SQL database </a:t>
            </a:r>
            <a:r>
              <a:rPr lang="en-US" sz="2000" i="0" u="sng" strike="noStrike" cap="none">
                <a:solidFill>
                  <a:srgbClr val="0070C0"/>
                </a:solidFill>
                <a:latin typeface="Calibri"/>
                <a:ea typeface="Calibri"/>
                <a:cs typeface="Calibri"/>
                <a:sym typeface="Calibri"/>
                <a:hlinkClick r:id="rId3"/>
              </a:rPr>
              <a:t>here</a:t>
            </a:r>
            <a:endParaRPr sz="2000" i="0" u="sng" strike="noStrike" cap="none">
              <a:solidFill>
                <a:srgbClr val="0070C0"/>
              </a:solidFill>
              <a:latin typeface="Calibri"/>
              <a:ea typeface="Calibri"/>
              <a:cs typeface="Calibri"/>
              <a:sym typeface="Calibri"/>
            </a:endParaRPr>
          </a:p>
          <a:p>
            <a:pPr marL="0" marR="0" lvl="0" indent="0" algn="l" rtl="0">
              <a:spcBef>
                <a:spcPts val="0"/>
              </a:spcBef>
              <a:spcAft>
                <a:spcPts val="0"/>
              </a:spcAft>
              <a:buClr>
                <a:schemeClr val="accent2"/>
              </a:buClr>
              <a:buSzPts val="2000"/>
              <a:buFont typeface="Calibri"/>
              <a:buNone/>
            </a:pPr>
            <a:r>
              <a:rPr lang="en-GB" sz="2000" b="1" i="0" u="none" strike="noStrike" cap="none">
                <a:solidFill>
                  <a:schemeClr val="accent2"/>
                </a:solidFill>
                <a:latin typeface="Calibri"/>
                <a:ea typeface="Calibri"/>
                <a:cs typeface="Calibri"/>
                <a:sym typeface="Calibri"/>
              </a:rPr>
              <a:t>Run  </a:t>
            </a:r>
            <a:r>
              <a:rPr lang="en-GB" sz="2000" b="0" i="0" u="none" strike="noStrike" cap="none">
                <a:solidFill>
                  <a:schemeClr val="dk1"/>
                </a:solidFill>
                <a:latin typeface="Calibri"/>
                <a:ea typeface="Calibri"/>
                <a:cs typeface="Calibri"/>
                <a:sym typeface="Calibri"/>
              </a:rPr>
              <a:t>One SELECT query, short enough to explain</a:t>
            </a:r>
          </a:p>
          <a:p>
            <a:pPr marL="0" marR="0" lvl="0" indent="0" algn="l" rtl="0">
              <a:spcBef>
                <a:spcPts val="0"/>
              </a:spcBef>
              <a:spcAft>
                <a:spcPts val="0"/>
              </a:spcAft>
              <a:buClr>
                <a:schemeClr val="accent2"/>
              </a:buClr>
              <a:buSzPts val="2000"/>
              <a:buFont typeface="Calibri"/>
              <a:buNone/>
            </a:pPr>
            <a:r>
              <a:rPr lang="en-US" sz="2000" b="1" i="0" u="none" strike="noStrike" cap="none">
                <a:solidFill>
                  <a:schemeClr val="accent2"/>
                </a:solidFill>
                <a:latin typeface="Calibri"/>
                <a:ea typeface="Calibri"/>
                <a:cs typeface="Calibri"/>
                <a:sym typeface="Calibri"/>
              </a:rPr>
              <a:t>Show  </a:t>
            </a:r>
            <a:r>
              <a:rPr lang="en-US" sz="2000" b="0" i="0" u="none" strike="noStrike" cap="none">
                <a:solidFill>
                  <a:schemeClr val="dk1"/>
                </a:solidFill>
                <a:latin typeface="Calibri"/>
                <a:ea typeface="Calibri"/>
                <a:cs typeface="Calibri"/>
                <a:sym typeface="Calibri"/>
              </a:rPr>
              <a:t>Real, correct rows. Point at one result.</a:t>
            </a:r>
          </a:p>
          <a:p>
            <a:pPr marL="0" marR="0" lvl="0" indent="0" algn="l" rtl="0">
              <a:spcBef>
                <a:spcPts val="0"/>
              </a:spcBef>
              <a:spcAft>
                <a:spcPts val="0"/>
              </a:spcAft>
              <a:buClr>
                <a:schemeClr val="accent2"/>
              </a:buClr>
              <a:buSzPts val="2000"/>
              <a:buFont typeface="Calibri"/>
              <a:buNone/>
            </a:pPr>
            <a:endParaRPr sz="2000" b="0" i="0" u="none" strike="noStrike" cap="none">
              <a:solidFill>
                <a:schemeClr val="dk1"/>
              </a:solidFill>
              <a:latin typeface="Calibri"/>
              <a:ea typeface="Calibri"/>
              <a:cs typeface="Calibri"/>
              <a:sym typeface="Calibri"/>
            </a:endParaRPr>
          </a:p>
        </p:txBody>
      </p:sp>
      <p:sp>
        <p:nvSpPr>
          <p:cNvPr id="64" name="Google Shape;64;p9"/>
          <p:cNvSpPr txBox="1">
            <a:spLocks noGrp="1"/>
          </p:cNvSpPr>
          <p:nvPr>
            <p:ph type="sldNum" idx="4294967295"/>
          </p:nvPr>
        </p:nvSpPr>
        <p:spPr>
          <a:xfrm>
            <a:off x="8046720" y="470916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3"/>
                </a:solidFill>
                <a:latin typeface="Calibri"/>
                <a:ea typeface="Calibri"/>
                <a:cs typeface="Calibri"/>
                <a:sym typeface="Calibri"/>
              </a:rPr>
              <a:t>6</a:t>
            </a:fld>
            <a:endParaRPr sz="1000" b="0" i="0" u="none" strike="noStrike" cap="none">
              <a:solidFill>
                <a:schemeClr val="accent3"/>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050899B4-4B87-78CC-9F03-EC2470D90793}"/>
              </a:ext>
            </a:extLst>
          </p:cNvPr>
          <p:cNvPicPr>
            <a:picLocks noChangeAspect="1"/>
          </p:cNvPicPr>
          <p:nvPr/>
        </p:nvPicPr>
        <p:blipFill>
          <a:blip r:embed="rId4"/>
          <a:stretch>
            <a:fillRect/>
          </a:stretch>
        </p:blipFill>
        <p:spPr>
          <a:xfrm>
            <a:off x="5415538" y="1054768"/>
            <a:ext cx="3592484" cy="1336587"/>
          </a:xfrm>
          <a:prstGeom prst="rect">
            <a:avLst/>
          </a:prstGeom>
        </p:spPr>
      </p:pic>
      <p:pic>
        <p:nvPicPr>
          <p:cNvPr id="5" name="Picture 4">
            <a:extLst>
              <a:ext uri="{FF2B5EF4-FFF2-40B4-BE49-F238E27FC236}">
                <a16:creationId xmlns:a16="http://schemas.microsoft.com/office/drawing/2014/main" id="{B8CD71F8-80D5-CA22-66DE-15E1ACE67B71}"/>
              </a:ext>
            </a:extLst>
          </p:cNvPr>
          <p:cNvPicPr>
            <a:picLocks noChangeAspect="1"/>
          </p:cNvPicPr>
          <p:nvPr/>
        </p:nvPicPr>
        <p:blipFill>
          <a:blip r:embed="rId5"/>
          <a:stretch>
            <a:fillRect/>
          </a:stretch>
        </p:blipFill>
        <p:spPr>
          <a:xfrm>
            <a:off x="5766160" y="2512125"/>
            <a:ext cx="2891240" cy="157660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0"/>
          <p:cNvSpPr txBox="1">
            <a:spLocks noGrp="1"/>
          </p:cNvSpPr>
          <p:nvPr>
            <p:ph type="title"/>
          </p:nvPr>
        </p:nvSpPr>
        <p:spPr>
          <a:xfrm>
            <a:off x="640080" y="457200"/>
            <a:ext cx="7863900" cy="731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600"/>
              <a:buFont typeface="Calibri"/>
              <a:buNone/>
            </a:pPr>
            <a:r>
              <a:rPr lang="en-US"/>
              <a:t>MP2: Software Engineering</a:t>
            </a:r>
            <a:endParaRPr sz="3600"/>
          </a:p>
        </p:txBody>
      </p:sp>
      <p:sp>
        <p:nvSpPr>
          <p:cNvPr id="71" name="Google Shape;71;p10"/>
          <p:cNvSpPr txBox="1"/>
          <p:nvPr/>
        </p:nvSpPr>
        <p:spPr>
          <a:xfrm>
            <a:off x="640080" y="1188730"/>
            <a:ext cx="7863900" cy="2743200"/>
          </a:xfrm>
          <a:prstGeom prst="rect">
            <a:avLst/>
          </a:prstGeom>
          <a:noFill/>
          <a:ln>
            <a:noFill/>
          </a:ln>
        </p:spPr>
        <p:txBody>
          <a:bodyPr spcFirstLastPara="1" wrap="square" lIns="0" tIns="0" rIns="0" bIns="0" anchor="t" anchorCtr="0">
            <a:noAutofit/>
          </a:bodyPr>
          <a:lstStyle/>
          <a:p>
            <a:pPr>
              <a:buClr>
                <a:schemeClr val="accent2"/>
              </a:buClr>
              <a:buSzPts val="2000"/>
              <a:buFont typeface="Calibri"/>
            </a:pPr>
            <a:r>
              <a:rPr lang="en-US" sz="2000" b="1">
                <a:solidFill>
                  <a:schemeClr val="accent2"/>
                </a:solidFill>
                <a:latin typeface="Calibri"/>
                <a:ea typeface="Calibri"/>
                <a:cs typeface="Calibri"/>
                <a:sym typeface="Calibri"/>
              </a:rPr>
              <a:t>The problem: </a:t>
            </a:r>
            <a:r>
              <a:rPr lang="en-US" sz="2000">
                <a:solidFill>
                  <a:schemeClr val="tx1"/>
                </a:solidFill>
                <a:latin typeface="Calibri"/>
                <a:ea typeface="Calibri"/>
                <a:cs typeface="Calibri"/>
                <a:sym typeface="Calibri"/>
              </a:rPr>
              <a:t>Pennine Pizza Works wants a simple computer program that can calculate customer orders more accurately.  The team has been asked to design, build and test a program for them that can handle customer orders, Specifically these were their requirements for the program:</a:t>
            </a:r>
            <a:endParaRPr lang="en-US" sz="1850">
              <a:solidFill>
                <a:schemeClr val="tx1"/>
              </a:solidFill>
              <a:latin typeface="Calibri"/>
              <a:ea typeface="Calibri"/>
              <a:cs typeface="Calibri"/>
              <a:sym typeface="Calibri"/>
            </a:endParaRPr>
          </a:p>
          <a:p>
            <a:pPr marL="342900" indent="-342900">
              <a:buClr>
                <a:schemeClr val="accent2"/>
              </a:buClr>
              <a:buSzPts val="2000"/>
              <a:buFont typeface="Arial" panose="020B0604020202020204" pitchFamily="34" charset="0"/>
              <a:buChar char="•"/>
            </a:pPr>
            <a:r>
              <a:rPr lang="en-US" sz="1850">
                <a:solidFill>
                  <a:schemeClr val="tx1"/>
                </a:solidFill>
                <a:latin typeface="Calibri"/>
                <a:ea typeface="Calibri"/>
                <a:cs typeface="Calibri"/>
                <a:sym typeface="Calibri"/>
              </a:rPr>
              <a:t>Produce a personalized + itemized bill for the customer</a:t>
            </a:r>
          </a:p>
          <a:p>
            <a:pPr marL="342900" lvl="7" indent="-342900">
              <a:buClr>
                <a:schemeClr val="accent2"/>
              </a:buClr>
              <a:buSzPts val="2000"/>
              <a:buFont typeface="Arial" panose="020B0604020202020204" pitchFamily="34" charset="0"/>
              <a:buChar char="•"/>
            </a:pPr>
            <a:r>
              <a:rPr lang="en-US" sz="1850">
                <a:solidFill>
                  <a:schemeClr val="tx1"/>
                </a:solidFill>
                <a:latin typeface="Calibri"/>
                <a:ea typeface="Calibri"/>
                <a:cs typeface="Calibri"/>
                <a:sym typeface="Calibri"/>
              </a:rPr>
              <a:t>Customer details – Cost of each pizza – Total Cost – if Discount/delivery applied</a:t>
            </a:r>
          </a:p>
          <a:p>
            <a:pPr marL="342900" lvl="7" indent="-342900">
              <a:buClr>
                <a:schemeClr val="accent2"/>
              </a:buClr>
              <a:buSzPts val="2000"/>
              <a:buFont typeface="Arial" panose="020B0604020202020204" pitchFamily="34" charset="0"/>
              <a:buChar char="•"/>
            </a:pPr>
            <a:r>
              <a:rPr lang="en-US" sz="1850">
                <a:solidFill>
                  <a:schemeClr val="tx1"/>
                </a:solidFill>
                <a:latin typeface="Calibri"/>
                <a:ea typeface="Calibri"/>
                <a:cs typeface="Calibri"/>
                <a:sym typeface="Calibri"/>
              </a:rPr>
              <a:t>Allow choice of extra toppings and size</a:t>
            </a:r>
          </a:p>
          <a:p>
            <a:pPr marL="342900" lvl="7" indent="-342900">
              <a:buClr>
                <a:schemeClr val="accent2"/>
              </a:buClr>
              <a:buSzPts val="2000"/>
              <a:buFont typeface="Arial" panose="020B0604020202020204" pitchFamily="34" charset="0"/>
              <a:buChar char="•"/>
            </a:pPr>
            <a:r>
              <a:rPr lang="en-US" sz="1850">
                <a:solidFill>
                  <a:schemeClr val="tx1"/>
                </a:solidFill>
                <a:latin typeface="Calibri"/>
                <a:ea typeface="Calibri"/>
                <a:cs typeface="Calibri"/>
                <a:sym typeface="Calibri"/>
              </a:rPr>
              <a:t>Apply discount + delivery charge</a:t>
            </a:r>
          </a:p>
          <a:p>
            <a:pPr marL="342900" lvl="7" indent="-342900">
              <a:buClr>
                <a:schemeClr val="accent2"/>
              </a:buClr>
              <a:buSzPts val="2000"/>
              <a:buFont typeface="Arial" panose="020B0604020202020204" pitchFamily="34" charset="0"/>
              <a:buChar char="•"/>
            </a:pPr>
            <a:endParaRPr lang="en-US" sz="1850">
              <a:solidFill>
                <a:schemeClr val="tx1"/>
              </a:solidFill>
              <a:latin typeface="Calibri"/>
              <a:ea typeface="Calibri"/>
              <a:cs typeface="Calibri"/>
              <a:sym typeface="Calibri"/>
            </a:endParaRPr>
          </a:p>
        </p:txBody>
      </p:sp>
      <p:sp>
        <p:nvSpPr>
          <p:cNvPr id="72" name="Google Shape;72;p10"/>
          <p:cNvSpPr txBox="1">
            <a:spLocks noGrp="1"/>
          </p:cNvSpPr>
          <p:nvPr>
            <p:ph type="sldNum" idx="4294967295"/>
          </p:nvPr>
        </p:nvSpPr>
        <p:spPr>
          <a:xfrm>
            <a:off x="8046720" y="4709160"/>
            <a:ext cx="4572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3"/>
                </a:solidFill>
                <a:latin typeface="Calibri"/>
                <a:ea typeface="Calibri"/>
                <a:cs typeface="Calibri"/>
                <a:sym typeface="Calibri"/>
              </a:rPr>
              <a:t>7</a:t>
            </a:fld>
            <a:endParaRPr sz="1000" b="0" i="0" u="none" strike="noStrike" cap="none">
              <a:solidFill>
                <a:schemeClr val="accent3"/>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125D0-C16A-7353-9F64-A8ED617455AE}"/>
              </a:ext>
            </a:extLst>
          </p:cNvPr>
          <p:cNvSpPr>
            <a:spLocks noGrp="1"/>
          </p:cNvSpPr>
          <p:nvPr>
            <p:ph type="title"/>
          </p:nvPr>
        </p:nvSpPr>
        <p:spPr/>
        <p:txBody>
          <a:bodyPr/>
          <a:lstStyle/>
          <a:p>
            <a:r>
              <a:rPr lang="en-GB"/>
              <a:t>How we worked</a:t>
            </a:r>
          </a:p>
        </p:txBody>
      </p:sp>
      <p:sp>
        <p:nvSpPr>
          <p:cNvPr id="3" name="TextBox 2">
            <a:extLst>
              <a:ext uri="{FF2B5EF4-FFF2-40B4-BE49-F238E27FC236}">
                <a16:creationId xmlns:a16="http://schemas.microsoft.com/office/drawing/2014/main" id="{F80FB054-FB25-E711-604A-D69A2A2E02E7}"/>
              </a:ext>
            </a:extLst>
          </p:cNvPr>
          <p:cNvSpPr txBox="1"/>
          <p:nvPr/>
        </p:nvSpPr>
        <p:spPr>
          <a:xfrm>
            <a:off x="640080" y="1188720"/>
            <a:ext cx="4401671" cy="2862322"/>
          </a:xfrm>
          <a:prstGeom prst="rect">
            <a:avLst/>
          </a:prstGeom>
          <a:noFill/>
        </p:spPr>
        <p:txBody>
          <a:bodyPr wrap="square" rtlCol="0">
            <a:spAutoFit/>
          </a:bodyPr>
          <a:lstStyle/>
          <a:p>
            <a:r>
              <a:rPr lang="en-GB" sz="2000">
                <a:latin typeface="Calibri" panose="020F0502020204030204" pitchFamily="34" charset="0"/>
                <a:ea typeface="Calibri" panose="020F0502020204030204" pitchFamily="34" charset="0"/>
                <a:cs typeface="Calibri" panose="020F0502020204030204" pitchFamily="34" charset="0"/>
              </a:rPr>
              <a:t>The team was split up into completing 5 individual tasks following the waterfall software development life cycle, this was how the workflow was segmented:</a:t>
            </a:r>
          </a:p>
          <a:p>
            <a:endParaRPr lang="en-GB" sz="2000">
              <a:latin typeface="Calibri" panose="020F0502020204030204" pitchFamily="34" charset="0"/>
              <a:ea typeface="Calibri" panose="020F0502020204030204" pitchFamily="34" charset="0"/>
              <a:cs typeface="Calibri" panose="020F0502020204030204" pitchFamily="34" charset="0"/>
            </a:endParaRPr>
          </a:p>
          <a:p>
            <a:r>
              <a:rPr lang="en-GB" sz="2000">
                <a:latin typeface="Calibri" panose="020F0502020204030204" pitchFamily="34" charset="0"/>
                <a:ea typeface="Calibri" panose="020F0502020204030204" pitchFamily="34" charset="0"/>
                <a:cs typeface="Calibri" panose="020F0502020204030204" pitchFamily="34" charset="0"/>
              </a:rPr>
              <a:t>Analysis – Wayne + Pandeli</a:t>
            </a:r>
          </a:p>
          <a:p>
            <a:r>
              <a:rPr lang="en-GB" sz="2000">
                <a:latin typeface="Calibri" panose="020F0502020204030204" pitchFamily="34" charset="0"/>
                <a:ea typeface="Calibri" panose="020F0502020204030204" pitchFamily="34" charset="0"/>
                <a:cs typeface="Calibri" panose="020F0502020204030204" pitchFamily="34" charset="0"/>
              </a:rPr>
              <a:t>Design – Brain </a:t>
            </a:r>
          </a:p>
          <a:p>
            <a:r>
              <a:rPr lang="en-GB" sz="2000">
                <a:latin typeface="Calibri" panose="020F0502020204030204" pitchFamily="34" charset="0"/>
                <a:ea typeface="Calibri" panose="020F0502020204030204" pitchFamily="34" charset="0"/>
                <a:cs typeface="Calibri" panose="020F0502020204030204" pitchFamily="34" charset="0"/>
              </a:rPr>
              <a:t>Build – Henry </a:t>
            </a:r>
          </a:p>
          <a:p>
            <a:r>
              <a:rPr lang="en-GB" sz="2000">
                <a:latin typeface="Calibri" panose="020F0502020204030204" pitchFamily="34" charset="0"/>
                <a:ea typeface="Calibri" panose="020F0502020204030204" pitchFamily="34" charset="0"/>
                <a:cs typeface="Calibri" panose="020F0502020204030204" pitchFamily="34" charset="0"/>
              </a:rPr>
              <a:t>Testing – Haneef </a:t>
            </a:r>
          </a:p>
        </p:txBody>
      </p:sp>
      <p:pic>
        <p:nvPicPr>
          <p:cNvPr id="6" name="Picture 5">
            <a:extLst>
              <a:ext uri="{FF2B5EF4-FFF2-40B4-BE49-F238E27FC236}">
                <a16:creationId xmlns:a16="http://schemas.microsoft.com/office/drawing/2014/main" id="{7567EED1-5E25-A135-BF55-4B8FCD6F2628}"/>
              </a:ext>
            </a:extLst>
          </p:cNvPr>
          <p:cNvPicPr>
            <a:picLocks noChangeAspect="1"/>
          </p:cNvPicPr>
          <p:nvPr/>
        </p:nvPicPr>
        <p:blipFill>
          <a:blip r:embed="rId2"/>
          <a:stretch>
            <a:fillRect/>
          </a:stretch>
        </p:blipFill>
        <p:spPr>
          <a:xfrm>
            <a:off x="5179864" y="1188720"/>
            <a:ext cx="3324056" cy="2555973"/>
          </a:xfrm>
          <a:prstGeom prst="rect">
            <a:avLst/>
          </a:prstGeom>
        </p:spPr>
      </p:pic>
    </p:spTree>
    <p:extLst>
      <p:ext uri="{BB962C8B-B14F-4D97-AF65-F5344CB8AC3E}">
        <p14:creationId xmlns:p14="http://schemas.microsoft.com/office/powerpoint/2010/main" val="1796968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1AEC7C-F2BB-C641-ADE3-C51DA457F2C8}"/>
              </a:ext>
            </a:extLst>
          </p:cNvPr>
          <p:cNvSpPr txBox="1"/>
          <p:nvPr/>
        </p:nvSpPr>
        <p:spPr>
          <a:xfrm>
            <a:off x="640080" y="450272"/>
            <a:ext cx="5109556" cy="4093428"/>
          </a:xfrm>
          <a:prstGeom prst="rect">
            <a:avLst/>
          </a:prstGeom>
          <a:noFill/>
        </p:spPr>
        <p:txBody>
          <a:bodyPr wrap="square" rtlCol="0">
            <a:spAutoFit/>
          </a:bodyPr>
          <a:lstStyle/>
          <a:p>
            <a:r>
              <a:rPr lang="en-GB" sz="2000" b="1">
                <a:solidFill>
                  <a:schemeClr val="accent2"/>
                </a:solidFill>
                <a:latin typeface="Calibri"/>
                <a:ea typeface="Calibri"/>
                <a:cs typeface="Calibri"/>
                <a:sym typeface="Calibri"/>
              </a:rPr>
              <a:t>Our solution: </a:t>
            </a:r>
            <a:r>
              <a:rPr lang="en-GB" sz="2000">
                <a:solidFill>
                  <a:schemeClr val="tx1"/>
                </a:solidFill>
                <a:latin typeface="Calibri"/>
                <a:ea typeface="Calibri"/>
                <a:cs typeface="Calibri"/>
                <a:sym typeface="Calibri"/>
              </a:rPr>
              <a:t>Our solution was done in Flowgorithm, and we expanded on the original task set for us in these areas where they were not otherwise specified:</a:t>
            </a:r>
          </a:p>
          <a:p>
            <a:pPr marL="342900" indent="-342900">
              <a:buFontTx/>
              <a:buChar char="-"/>
            </a:pPr>
            <a:r>
              <a:rPr lang="en-GB" sz="2000">
                <a:solidFill>
                  <a:schemeClr val="tx1"/>
                </a:solidFill>
                <a:latin typeface="Calibri"/>
                <a:ea typeface="Calibri"/>
                <a:cs typeface="Calibri"/>
                <a:sym typeface="Calibri"/>
              </a:rPr>
              <a:t>Include discount amount </a:t>
            </a:r>
          </a:p>
          <a:p>
            <a:pPr marL="342900" indent="-342900">
              <a:buFontTx/>
              <a:buChar char="-"/>
            </a:pPr>
            <a:r>
              <a:rPr lang="en-GB" sz="2000">
                <a:solidFill>
                  <a:schemeClr val="tx1"/>
                </a:solidFill>
                <a:latin typeface="Calibri"/>
                <a:ea typeface="Calibri"/>
                <a:cs typeface="Calibri"/>
                <a:sym typeface="Calibri"/>
              </a:rPr>
              <a:t>Error Handling (stringChecker)</a:t>
            </a:r>
          </a:p>
          <a:p>
            <a:pPr marL="342900" indent="-342900">
              <a:buFontTx/>
              <a:buChar char="-"/>
            </a:pPr>
            <a:r>
              <a:rPr lang="en-GB" sz="2000">
                <a:solidFill>
                  <a:schemeClr val="tx1"/>
                </a:solidFill>
                <a:latin typeface="Calibri"/>
                <a:ea typeface="Calibri"/>
                <a:cs typeface="Calibri"/>
                <a:sym typeface="Calibri"/>
              </a:rPr>
              <a:t>Store most info as arrays </a:t>
            </a:r>
          </a:p>
          <a:p>
            <a:pPr marL="342900" indent="-342900">
              <a:buFontTx/>
              <a:buChar char="-"/>
            </a:pPr>
            <a:r>
              <a:rPr lang="en-GB" sz="2000">
                <a:solidFill>
                  <a:schemeClr val="tx1"/>
                </a:solidFill>
                <a:latin typeface="Calibri"/>
                <a:ea typeface="Calibri"/>
                <a:cs typeface="Calibri"/>
                <a:sym typeface="Calibri"/>
              </a:rPr>
              <a:t>No maximum amount of toppings</a:t>
            </a:r>
          </a:p>
          <a:p>
            <a:endParaRPr lang="en-GB" sz="2000">
              <a:solidFill>
                <a:schemeClr val="dk1"/>
              </a:solidFill>
              <a:latin typeface="Calibri"/>
              <a:ea typeface="Calibri"/>
              <a:cs typeface="Calibri"/>
              <a:sym typeface="Calibri"/>
            </a:endParaRPr>
          </a:p>
          <a:p>
            <a:r>
              <a:rPr lang="en-GB" sz="2000">
                <a:solidFill>
                  <a:schemeClr val="dk1"/>
                </a:solidFill>
                <a:latin typeface="Calibri"/>
                <a:ea typeface="Calibri"/>
                <a:cs typeface="Calibri"/>
                <a:sym typeface="Calibri"/>
              </a:rPr>
              <a:t>Our solution was developed with good programmer practices in mind e.g. reusing functions for separate tasks.</a:t>
            </a:r>
          </a:p>
          <a:p>
            <a:endParaRPr lang="en-GB" sz="2000"/>
          </a:p>
        </p:txBody>
      </p:sp>
      <p:pic>
        <p:nvPicPr>
          <p:cNvPr id="4" name="Picture 3">
            <a:extLst>
              <a:ext uri="{FF2B5EF4-FFF2-40B4-BE49-F238E27FC236}">
                <a16:creationId xmlns:a16="http://schemas.microsoft.com/office/drawing/2014/main" id="{AB821646-8AE6-774F-3B64-6785D1736DBD}"/>
              </a:ext>
            </a:extLst>
          </p:cNvPr>
          <p:cNvPicPr>
            <a:picLocks noChangeAspect="1"/>
          </p:cNvPicPr>
          <p:nvPr/>
        </p:nvPicPr>
        <p:blipFill>
          <a:blip r:embed="rId2"/>
          <a:stretch>
            <a:fillRect/>
          </a:stretch>
        </p:blipFill>
        <p:spPr>
          <a:xfrm>
            <a:off x="5866599" y="138545"/>
            <a:ext cx="2999957" cy="4603173"/>
          </a:xfrm>
          <a:prstGeom prst="rect">
            <a:avLst/>
          </a:prstGeom>
        </p:spPr>
      </p:pic>
    </p:spTree>
    <p:extLst>
      <p:ext uri="{BB962C8B-B14F-4D97-AF65-F5344CB8AC3E}">
        <p14:creationId xmlns:p14="http://schemas.microsoft.com/office/powerpoint/2010/main" val="1823631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1"/>
          <p:cNvSpPr txBox="1">
            <a:spLocks noGrp="1"/>
          </p:cNvSpPr>
          <p:nvPr>
            <p:ph type="title"/>
          </p:nvPr>
        </p:nvSpPr>
        <p:spPr>
          <a:xfrm>
            <a:off x="640080" y="457200"/>
            <a:ext cx="78638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600"/>
              <a:buFont typeface="Calibri"/>
              <a:buNone/>
            </a:pPr>
            <a:r>
              <a:rPr lang="en-US" sz="3600">
                <a:solidFill>
                  <a:schemeClr val="dk1"/>
                </a:solidFill>
              </a:rPr>
              <a:t>Mini demo: run the program</a:t>
            </a:r>
            <a:endParaRPr sz="3600"/>
          </a:p>
        </p:txBody>
      </p:sp>
      <p:sp>
        <p:nvSpPr>
          <p:cNvPr id="79" name="Google Shape;79;p11"/>
          <p:cNvSpPr txBox="1"/>
          <p:nvPr/>
        </p:nvSpPr>
        <p:spPr>
          <a:xfrm>
            <a:off x="640080" y="1188720"/>
            <a:ext cx="7863900" cy="2743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2000"/>
              <a:buFont typeface="Calibri"/>
              <a:buNone/>
            </a:pPr>
            <a:r>
              <a:rPr lang="en-US" sz="2000" b="1" i="0" u="none" strike="noStrike" cap="none">
                <a:solidFill>
                  <a:schemeClr val="accent2"/>
                </a:solidFill>
                <a:latin typeface="Calibri"/>
                <a:ea typeface="Calibri"/>
                <a:cs typeface="Calibri"/>
                <a:sym typeface="Calibri"/>
              </a:rPr>
              <a:t>Open this link </a:t>
            </a:r>
            <a:r>
              <a:rPr lang="en-US" sz="2000" b="1" i="0" u="none" strike="noStrike" cap="none">
                <a:solidFill>
                  <a:schemeClr val="accent2"/>
                </a:solidFill>
                <a:latin typeface="Calibri"/>
                <a:ea typeface="Calibri"/>
                <a:cs typeface="Calibri"/>
                <a:sym typeface="Wingdings" panose="05000000000000000000" pitchFamily="2" charset="2"/>
                <a:hlinkClick r:id="rId3"/>
              </a:rPr>
              <a:t></a:t>
            </a:r>
            <a:endParaRPr lang="en-US" sz="2000" b="1" i="0" u="none" strike="noStrike" cap="none">
              <a:solidFill>
                <a:schemeClr val="accent2"/>
              </a:solidFill>
              <a:latin typeface="Calibri"/>
              <a:ea typeface="Calibri"/>
              <a:cs typeface="Calibri"/>
              <a:sym typeface="Calibri"/>
            </a:endParaRPr>
          </a:p>
          <a:p>
            <a:pPr marL="0" marR="0" lvl="0" indent="0" algn="l" rtl="0">
              <a:spcBef>
                <a:spcPts val="0"/>
              </a:spcBef>
              <a:spcAft>
                <a:spcPts val="0"/>
              </a:spcAft>
              <a:buClr>
                <a:schemeClr val="accent2"/>
              </a:buClr>
              <a:buSzPts val="2000"/>
              <a:buFont typeface="Calibri"/>
              <a:buNone/>
            </a:pPr>
            <a:endParaRPr lang="en-US" sz="2000" b="1" i="0" u="none" strike="noStrike" cap="none">
              <a:solidFill>
                <a:schemeClr val="accent2"/>
              </a:solidFill>
              <a:latin typeface="Calibri"/>
              <a:ea typeface="Calibri"/>
              <a:cs typeface="Calibri"/>
              <a:sym typeface="Calibri"/>
            </a:endParaRPr>
          </a:p>
          <a:p>
            <a:pPr marL="0" marR="0" lvl="0" indent="0" algn="l" rtl="0">
              <a:spcBef>
                <a:spcPts val="0"/>
              </a:spcBef>
              <a:spcAft>
                <a:spcPts val="0"/>
              </a:spcAft>
              <a:buClr>
                <a:schemeClr val="accent2"/>
              </a:buClr>
              <a:buSzPts val="2000"/>
              <a:buFont typeface="Calibri"/>
              <a:buNone/>
            </a:pPr>
            <a:endParaRPr lang="en-US" sz="2000" b="1" i="0" u="none" strike="noStrike" cap="none">
              <a:solidFill>
                <a:schemeClr val="accent2"/>
              </a:solidFill>
              <a:latin typeface="Calibri"/>
              <a:ea typeface="Calibri"/>
              <a:cs typeface="Calibri"/>
              <a:sym typeface="Calibri"/>
            </a:endParaRPr>
          </a:p>
          <a:p>
            <a:pPr marL="0" marR="0" lvl="0" indent="0" algn="l" rtl="0">
              <a:spcBef>
                <a:spcPts val="0"/>
              </a:spcBef>
              <a:spcAft>
                <a:spcPts val="0"/>
              </a:spcAft>
              <a:buClr>
                <a:schemeClr val="accent2"/>
              </a:buClr>
              <a:buSzPts val="2000"/>
              <a:buFont typeface="Calibri"/>
              <a:buNone/>
            </a:pPr>
            <a:r>
              <a:rPr lang="en-US" sz="2000" b="1" i="0" u="none" strike="noStrike" cap="none">
                <a:solidFill>
                  <a:schemeClr val="accent2"/>
                </a:solidFill>
                <a:latin typeface="Calibri"/>
                <a:ea typeface="Calibri"/>
                <a:cs typeface="Calibri"/>
                <a:sym typeface="Calibri"/>
              </a:rPr>
              <a:t>Run </a:t>
            </a:r>
            <a:r>
              <a:rPr lang="en-US" sz="2000" i="0" u="none" strike="noStrike" cap="none">
                <a:solidFill>
                  <a:schemeClr val="dk1"/>
                </a:solidFill>
                <a:latin typeface="Calibri"/>
                <a:ea typeface="Calibri"/>
                <a:cs typeface="Calibri"/>
                <a:sym typeface="Calibri"/>
              </a:rPr>
              <a:t>Showing </a:t>
            </a:r>
            <a:r>
              <a:rPr lang="en-US" sz="2000" b="0" i="0" u="none" strike="noStrike" cap="none">
                <a:solidFill>
                  <a:schemeClr val="dk1"/>
                </a:solidFill>
                <a:latin typeface="Calibri"/>
                <a:ea typeface="Calibri"/>
                <a:cs typeface="Calibri"/>
                <a:sym typeface="Calibri"/>
              </a:rPr>
              <a:t>typical order as test input, then show error handling </a:t>
            </a:r>
          </a:p>
          <a:p>
            <a:pPr marL="0" marR="0" lvl="0" indent="0" algn="l" rtl="0">
              <a:spcBef>
                <a:spcPts val="0"/>
              </a:spcBef>
              <a:spcAft>
                <a:spcPts val="0"/>
              </a:spcAft>
              <a:buClr>
                <a:schemeClr val="accent2"/>
              </a:buClr>
              <a:buSzPts val="2000"/>
              <a:buFont typeface="Calibri"/>
              <a:buNone/>
            </a:pPr>
            <a:endParaRPr lang="en-US" sz="2000">
              <a:solidFill>
                <a:schemeClr val="dk1"/>
              </a:solidFill>
              <a:latin typeface="Calibri"/>
              <a:ea typeface="Calibri"/>
              <a:cs typeface="Calibri"/>
              <a:sym typeface="Calibri"/>
            </a:endParaRPr>
          </a:p>
          <a:p>
            <a:pPr marL="0" marR="0" lvl="0" indent="0" algn="l" rtl="0">
              <a:spcBef>
                <a:spcPts val="0"/>
              </a:spcBef>
              <a:spcAft>
                <a:spcPts val="0"/>
              </a:spcAft>
              <a:buClr>
                <a:schemeClr val="accent2"/>
              </a:buClr>
              <a:buSzPts val="2000"/>
              <a:buFont typeface="Calibri"/>
              <a:buNone/>
            </a:pPr>
            <a:endParaRPr sz="20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2"/>
              </a:buClr>
              <a:buSzPts val="2000"/>
              <a:buFont typeface="Calibri"/>
              <a:buNone/>
            </a:pPr>
            <a:r>
              <a:rPr lang="en-US" sz="2000" b="1" i="0" u="none" strike="noStrike" cap="none">
                <a:solidFill>
                  <a:schemeClr val="accent2"/>
                </a:solidFill>
                <a:latin typeface="Calibri"/>
                <a:ea typeface="Calibri"/>
                <a:cs typeface="Calibri"/>
                <a:sym typeface="Calibri"/>
              </a:rPr>
              <a:t>Show </a:t>
            </a:r>
            <a:r>
              <a:rPr lang="en-US" sz="2000">
                <a:solidFill>
                  <a:schemeClr val="dk1"/>
                </a:solidFill>
                <a:latin typeface="Calibri"/>
                <a:ea typeface="Calibri"/>
                <a:cs typeface="Calibri"/>
                <a:sym typeface="Calibri"/>
              </a:rPr>
              <a:t>Output + edge case scenario</a:t>
            </a:r>
            <a:endParaRPr sz="2000" b="0" i="0" u="none" strike="noStrike" cap="none">
              <a:solidFill>
                <a:schemeClr val="dk1"/>
              </a:solidFill>
              <a:latin typeface="Calibri"/>
              <a:ea typeface="Calibri"/>
              <a:cs typeface="Calibri"/>
              <a:sym typeface="Calibri"/>
            </a:endParaRPr>
          </a:p>
        </p:txBody>
      </p:sp>
      <p:sp>
        <p:nvSpPr>
          <p:cNvPr id="80" name="Google Shape;80;p11"/>
          <p:cNvSpPr txBox="1">
            <a:spLocks noGrp="1"/>
          </p:cNvSpPr>
          <p:nvPr>
            <p:ph type="sldNum" idx="4294967295"/>
          </p:nvPr>
        </p:nvSpPr>
        <p:spPr>
          <a:xfrm>
            <a:off x="8046720" y="470916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3"/>
                </a:solidFill>
                <a:latin typeface="Calibri"/>
                <a:ea typeface="Calibri"/>
                <a:cs typeface="Calibri"/>
                <a:sym typeface="Calibri"/>
              </a:rPr>
              <a:t>10</a:t>
            </a:fld>
            <a:endParaRPr sz="1000" b="0" i="0" u="none" strike="noStrike" cap="none">
              <a:solidFill>
                <a:schemeClr val="accent3"/>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A820F4-CA36-CECA-825A-E13826416FE5}"/>
              </a:ext>
            </a:extLst>
          </p:cNvPr>
          <p:cNvPicPr>
            <a:picLocks noChangeAspect="1"/>
          </p:cNvPicPr>
          <p:nvPr/>
        </p:nvPicPr>
        <p:blipFill>
          <a:blip r:embed="rId2"/>
          <a:stretch>
            <a:fillRect/>
          </a:stretch>
        </p:blipFill>
        <p:spPr>
          <a:xfrm>
            <a:off x="297072" y="176841"/>
            <a:ext cx="2999957" cy="4603173"/>
          </a:xfrm>
          <a:prstGeom prst="rect">
            <a:avLst/>
          </a:prstGeom>
        </p:spPr>
      </p:pic>
      <p:pic>
        <p:nvPicPr>
          <p:cNvPr id="7" name="Picture 6">
            <a:extLst>
              <a:ext uri="{FF2B5EF4-FFF2-40B4-BE49-F238E27FC236}">
                <a16:creationId xmlns:a16="http://schemas.microsoft.com/office/drawing/2014/main" id="{6780E2E5-73AC-D26F-D9C4-BA6F5C9C7860}"/>
              </a:ext>
            </a:extLst>
          </p:cNvPr>
          <p:cNvPicPr>
            <a:picLocks noChangeAspect="1"/>
          </p:cNvPicPr>
          <p:nvPr/>
        </p:nvPicPr>
        <p:blipFill>
          <a:blip r:embed="rId3"/>
          <a:stretch>
            <a:fillRect/>
          </a:stretch>
        </p:blipFill>
        <p:spPr>
          <a:xfrm>
            <a:off x="4855665" y="176842"/>
            <a:ext cx="2338388" cy="4603172"/>
          </a:xfrm>
          <a:prstGeom prst="rect">
            <a:avLst/>
          </a:prstGeom>
        </p:spPr>
      </p:pic>
      <p:cxnSp>
        <p:nvCxnSpPr>
          <p:cNvPr id="11" name="Connector: Elbow 10">
            <a:extLst>
              <a:ext uri="{FF2B5EF4-FFF2-40B4-BE49-F238E27FC236}">
                <a16:creationId xmlns:a16="http://schemas.microsoft.com/office/drawing/2014/main" id="{878602A1-2AA0-CDA8-2704-1C6656AF2BF3}"/>
              </a:ext>
            </a:extLst>
          </p:cNvPr>
          <p:cNvCxnSpPr>
            <a:cxnSpLocks/>
            <a:endCxn id="7" idx="0"/>
          </p:cNvCxnSpPr>
          <p:nvPr/>
        </p:nvCxnSpPr>
        <p:spPr>
          <a:xfrm flipV="1">
            <a:off x="2050472" y="176842"/>
            <a:ext cx="3974387" cy="3390704"/>
          </a:xfrm>
          <a:prstGeom prst="bentConnector4">
            <a:avLst>
              <a:gd name="adj1" fmla="val 35291"/>
              <a:gd name="adj2" fmla="val 103677"/>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038868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79BC59-B035-F62A-10FC-9905E7E476DF}"/>
              </a:ext>
            </a:extLst>
          </p:cNvPr>
          <p:cNvPicPr>
            <a:picLocks noChangeAspect="1"/>
          </p:cNvPicPr>
          <p:nvPr/>
        </p:nvPicPr>
        <p:blipFill>
          <a:blip r:embed="rId2"/>
          <a:stretch>
            <a:fillRect/>
          </a:stretch>
        </p:blipFill>
        <p:spPr>
          <a:xfrm>
            <a:off x="3241962" y="466770"/>
            <a:ext cx="3326596" cy="4141273"/>
          </a:xfrm>
          <a:prstGeom prst="rect">
            <a:avLst/>
          </a:prstGeom>
        </p:spPr>
      </p:pic>
      <p:pic>
        <p:nvPicPr>
          <p:cNvPr id="9" name="Picture 8">
            <a:extLst>
              <a:ext uri="{FF2B5EF4-FFF2-40B4-BE49-F238E27FC236}">
                <a16:creationId xmlns:a16="http://schemas.microsoft.com/office/drawing/2014/main" id="{001424CE-55BC-0FB1-AB04-248B6FB8CF99}"/>
              </a:ext>
            </a:extLst>
          </p:cNvPr>
          <p:cNvPicPr>
            <a:picLocks noChangeAspect="1"/>
          </p:cNvPicPr>
          <p:nvPr/>
        </p:nvPicPr>
        <p:blipFill>
          <a:blip r:embed="rId3"/>
          <a:stretch>
            <a:fillRect/>
          </a:stretch>
        </p:blipFill>
        <p:spPr>
          <a:xfrm>
            <a:off x="108893" y="466771"/>
            <a:ext cx="3133069" cy="4175616"/>
          </a:xfrm>
          <a:prstGeom prst="rect">
            <a:avLst/>
          </a:prstGeom>
        </p:spPr>
      </p:pic>
      <p:pic>
        <p:nvPicPr>
          <p:cNvPr id="6" name="Picture 5">
            <a:extLst>
              <a:ext uri="{FF2B5EF4-FFF2-40B4-BE49-F238E27FC236}">
                <a16:creationId xmlns:a16="http://schemas.microsoft.com/office/drawing/2014/main" id="{9CF115F8-C80A-C77B-5FA8-39E1A303C329}"/>
              </a:ext>
            </a:extLst>
          </p:cNvPr>
          <p:cNvPicPr>
            <a:picLocks noChangeAspect="1"/>
          </p:cNvPicPr>
          <p:nvPr/>
        </p:nvPicPr>
        <p:blipFill>
          <a:blip r:embed="rId4"/>
          <a:stretch>
            <a:fillRect/>
          </a:stretch>
        </p:blipFill>
        <p:spPr>
          <a:xfrm>
            <a:off x="6596144" y="466769"/>
            <a:ext cx="2396529" cy="2054168"/>
          </a:xfrm>
          <a:prstGeom prst="rect">
            <a:avLst/>
          </a:prstGeom>
        </p:spPr>
      </p:pic>
      <p:cxnSp>
        <p:nvCxnSpPr>
          <p:cNvPr id="8" name="Connector: Elbow 7">
            <a:extLst>
              <a:ext uri="{FF2B5EF4-FFF2-40B4-BE49-F238E27FC236}">
                <a16:creationId xmlns:a16="http://schemas.microsoft.com/office/drawing/2014/main" id="{6C8E4678-DA0D-92FC-9D6F-A409FA84EDB7}"/>
              </a:ext>
            </a:extLst>
          </p:cNvPr>
          <p:cNvCxnSpPr>
            <a:cxnSpLocks/>
            <a:stCxn id="9" idx="2"/>
            <a:endCxn id="3" idx="0"/>
          </p:cNvCxnSpPr>
          <p:nvPr/>
        </p:nvCxnSpPr>
        <p:spPr>
          <a:xfrm rot="5400000" flipH="1" flipV="1">
            <a:off x="1202535" y="939663"/>
            <a:ext cx="4175617" cy="3229832"/>
          </a:xfrm>
          <a:prstGeom prst="bentConnector5">
            <a:avLst>
              <a:gd name="adj1" fmla="val -5475"/>
              <a:gd name="adj2" fmla="val 49192"/>
              <a:gd name="adj3" fmla="val 105475"/>
            </a:avLst>
          </a:prstGeom>
          <a:ln>
            <a:tailEnd type="triangle"/>
          </a:ln>
        </p:spPr>
        <p:style>
          <a:lnRef idx="2">
            <a:schemeClr val="dk1"/>
          </a:lnRef>
          <a:fillRef idx="0">
            <a:schemeClr val="dk1"/>
          </a:fillRef>
          <a:effectRef idx="1">
            <a:schemeClr val="dk1"/>
          </a:effectRef>
          <a:fontRef idx="minor">
            <a:schemeClr val="tx1"/>
          </a:fontRef>
        </p:style>
      </p:cxnSp>
      <p:cxnSp>
        <p:nvCxnSpPr>
          <p:cNvPr id="21" name="Connector: Elbow 20">
            <a:extLst>
              <a:ext uri="{FF2B5EF4-FFF2-40B4-BE49-F238E27FC236}">
                <a16:creationId xmlns:a16="http://schemas.microsoft.com/office/drawing/2014/main" id="{C73BBC55-8E0E-A594-2AE4-B33392DA9B74}"/>
              </a:ext>
            </a:extLst>
          </p:cNvPr>
          <p:cNvCxnSpPr>
            <a:stCxn id="3" idx="2"/>
            <a:endCxn id="6" idx="0"/>
          </p:cNvCxnSpPr>
          <p:nvPr/>
        </p:nvCxnSpPr>
        <p:spPr>
          <a:xfrm rot="5400000" flipH="1" flipV="1">
            <a:off x="4279197" y="1092831"/>
            <a:ext cx="4141274" cy="2889149"/>
          </a:xfrm>
          <a:prstGeom prst="bentConnector5">
            <a:avLst>
              <a:gd name="adj1" fmla="val -5520"/>
              <a:gd name="adj2" fmla="val 58048"/>
              <a:gd name="adj3" fmla="val 105520"/>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460369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C0E5A-AC5A-6227-A4C8-41B245CC7E95}"/>
              </a:ext>
            </a:extLst>
          </p:cNvPr>
          <p:cNvSpPr>
            <a:spLocks noGrp="1"/>
          </p:cNvSpPr>
          <p:nvPr>
            <p:ph type="title"/>
          </p:nvPr>
        </p:nvSpPr>
        <p:spPr/>
        <p:txBody>
          <a:bodyPr/>
          <a:lstStyle/>
          <a:p>
            <a:r>
              <a:rPr lang="en-GB"/>
              <a:t>Example Results</a:t>
            </a:r>
          </a:p>
        </p:txBody>
      </p:sp>
      <p:pic>
        <p:nvPicPr>
          <p:cNvPr id="3" name="Picture 2">
            <a:extLst>
              <a:ext uri="{FF2B5EF4-FFF2-40B4-BE49-F238E27FC236}">
                <a16:creationId xmlns:a16="http://schemas.microsoft.com/office/drawing/2014/main" id="{CB9FCDB4-AC3C-C9B3-6A91-55210D1115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53001" y="453095"/>
            <a:ext cx="3706092" cy="4098874"/>
          </a:xfrm>
          <a:prstGeom prst="rect">
            <a:avLst/>
          </a:prstGeom>
          <a:noFill/>
          <a:ln>
            <a:noFill/>
          </a:ln>
        </p:spPr>
      </p:pic>
      <p:sp>
        <p:nvSpPr>
          <p:cNvPr id="4" name="TextBox 3">
            <a:extLst>
              <a:ext uri="{FF2B5EF4-FFF2-40B4-BE49-F238E27FC236}">
                <a16:creationId xmlns:a16="http://schemas.microsoft.com/office/drawing/2014/main" id="{342237F8-0606-C216-C35E-5339567C0043}"/>
              </a:ext>
            </a:extLst>
          </p:cNvPr>
          <p:cNvSpPr txBox="1"/>
          <p:nvPr/>
        </p:nvSpPr>
        <p:spPr>
          <a:xfrm>
            <a:off x="640080" y="1188720"/>
            <a:ext cx="3814156" cy="707886"/>
          </a:xfrm>
          <a:prstGeom prst="rect">
            <a:avLst/>
          </a:prstGeom>
          <a:noFill/>
        </p:spPr>
        <p:txBody>
          <a:bodyPr wrap="square" rtlCol="0">
            <a:spAutoFit/>
          </a:bodyPr>
          <a:lstStyle/>
          <a:p>
            <a:r>
              <a:rPr lang="en-GB" sz="2000">
                <a:latin typeface="Calibri" panose="020F0502020204030204" pitchFamily="34" charset="0"/>
                <a:ea typeface="Calibri" panose="020F0502020204030204" pitchFamily="34" charset="0"/>
                <a:cs typeface="Calibri" panose="020F0502020204030204" pitchFamily="34" charset="0"/>
              </a:rPr>
              <a:t>User input is specified by highlighted yellow text</a:t>
            </a:r>
          </a:p>
        </p:txBody>
      </p:sp>
    </p:spTree>
    <p:extLst>
      <p:ext uri="{BB962C8B-B14F-4D97-AF65-F5344CB8AC3E}">
        <p14:creationId xmlns:p14="http://schemas.microsoft.com/office/powerpoint/2010/main" val="225573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2"/>
          <p:cNvSpPr txBox="1">
            <a:spLocks noGrp="1"/>
          </p:cNvSpPr>
          <p:nvPr>
            <p:ph type="title"/>
          </p:nvPr>
        </p:nvSpPr>
        <p:spPr>
          <a:xfrm>
            <a:off x="630936" y="274320"/>
            <a:ext cx="7886700" cy="994410"/>
          </a:xfrm>
        </p:spPr>
        <p:txBody>
          <a:bodyPr spcFirstLastPara="1" wrap="square" lIns="0" tIns="0" rIns="0" bIns="0" anchor="ctr" anchorCtr="0">
            <a:normAutofit/>
          </a:bodyPr>
          <a:lstStyle/>
          <a:p>
            <a:pPr marL="0" lvl="0" indent="0" rtl="0">
              <a:spcBef>
                <a:spcPts val="0"/>
              </a:spcBef>
              <a:spcAft>
                <a:spcPts val="0"/>
              </a:spcAft>
              <a:buClr>
                <a:schemeClr val="dk1"/>
              </a:buClr>
              <a:buSzPts val="3600"/>
              <a:buFont typeface="Calibri"/>
              <a:buNone/>
            </a:pPr>
            <a:r>
              <a:rPr lang="en-US"/>
              <a:t>MP3: Networking</a:t>
            </a:r>
            <a:endParaRPr lang="en-GB"/>
          </a:p>
        </p:txBody>
      </p:sp>
      <p:sp>
        <p:nvSpPr>
          <p:cNvPr id="88" name="Google Shape;88;p12" hidden="1"/>
          <p:cNvSpPr txBox="1">
            <a:spLocks noGrp="1"/>
          </p:cNvSpPr>
          <p:nvPr>
            <p:ph type="sldNum" idx="4294967295"/>
          </p:nvPr>
        </p:nvSpPr>
        <p:spPr>
          <a:xfrm>
            <a:off x="8046720" y="4709160"/>
            <a:ext cx="457200" cy="274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600"/>
              </a:spcAft>
              <a:buNone/>
            </a:pPr>
            <a:fld id="{00000000-1234-1234-1234-123412341234}" type="slidenum">
              <a:rPr lang="en-US" b="0" i="0" u="none" strike="noStrike" cap="none">
                <a:solidFill>
                  <a:schemeClr val="accent3"/>
                </a:solidFill>
                <a:latin typeface="Calibri"/>
                <a:ea typeface="Calibri"/>
                <a:cs typeface="Calibri"/>
                <a:sym typeface="Calibri"/>
              </a:rPr>
              <a:pPr marL="0" marR="0" lvl="0" indent="0" algn="r" rtl="0">
                <a:spcBef>
                  <a:spcPts val="0"/>
                </a:spcBef>
                <a:spcAft>
                  <a:spcPts val="600"/>
                </a:spcAft>
                <a:buNone/>
              </a:pPr>
              <a:t>14</a:t>
            </a:fld>
            <a:endParaRPr lang="en-US" b="0" i="0" u="none" strike="noStrike" cap="none">
              <a:solidFill>
                <a:schemeClr val="accent3"/>
              </a:solidFill>
              <a:latin typeface="Calibri"/>
              <a:ea typeface="Calibri"/>
              <a:cs typeface="Calibri"/>
              <a:sym typeface="Calibri"/>
            </a:endParaRPr>
          </a:p>
        </p:txBody>
      </p:sp>
      <p:graphicFrame>
        <p:nvGraphicFramePr>
          <p:cNvPr id="90" name="Google Shape;87;p12">
            <a:extLst>
              <a:ext uri="{FF2B5EF4-FFF2-40B4-BE49-F238E27FC236}">
                <a16:creationId xmlns:a16="http://schemas.microsoft.com/office/drawing/2014/main" id="{BB44027E-EE0D-FB11-2320-6B13072B2D3B}"/>
              </a:ext>
            </a:extLst>
          </p:cNvPr>
          <p:cNvGraphicFramePr/>
          <p:nvPr>
            <p:extLst>
              <p:ext uri="{D42A27DB-BD31-4B8C-83A1-F6EECF244321}">
                <p14:modId xmlns:p14="http://schemas.microsoft.com/office/powerpoint/2010/main" val="1330780492"/>
              </p:ext>
            </p:extLst>
          </p:nvPr>
        </p:nvGraphicFramePr>
        <p:xfrm>
          <a:off x="630936" y="1459230"/>
          <a:ext cx="7886700" cy="3264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3"/>
          <p:cNvSpPr txBox="1">
            <a:spLocks noGrp="1"/>
          </p:cNvSpPr>
          <p:nvPr>
            <p:ph type="title"/>
          </p:nvPr>
        </p:nvSpPr>
        <p:spPr>
          <a:xfrm>
            <a:off x="630936" y="274320"/>
            <a:ext cx="7886700" cy="994410"/>
          </a:xfrm>
        </p:spPr>
        <p:txBody>
          <a:bodyPr spcFirstLastPara="1" wrap="square" lIns="0" tIns="0" rIns="0" bIns="0" anchor="ctr" anchorCtr="0">
            <a:normAutofit/>
          </a:bodyPr>
          <a:lstStyle/>
          <a:p>
            <a:pPr marL="0" lvl="0" indent="0" rtl="0">
              <a:spcBef>
                <a:spcPts val="0"/>
              </a:spcBef>
              <a:spcAft>
                <a:spcPts val="0"/>
              </a:spcAft>
              <a:buClr>
                <a:schemeClr val="dk1"/>
              </a:buClr>
              <a:buSzPts val="3600"/>
              <a:buFont typeface="Calibri"/>
              <a:buNone/>
            </a:pPr>
            <a:r>
              <a:rPr lang="en-US"/>
              <a:t>Mini demo: ping the network</a:t>
            </a:r>
          </a:p>
        </p:txBody>
      </p:sp>
      <p:sp>
        <p:nvSpPr>
          <p:cNvPr id="95" name="Google Shape;95;p13"/>
          <p:cNvSpPr txBox="1"/>
          <p:nvPr/>
        </p:nvSpPr>
        <p:spPr>
          <a:xfrm>
            <a:off x="630936" y="1459230"/>
            <a:ext cx="3752850" cy="3264408"/>
          </a:xfrm>
          <a:prstGeom prst="rect">
            <a:avLst/>
          </a:prstGeom>
          <a:noFill/>
          <a:ln>
            <a:noFill/>
          </a:ln>
        </p:spPr>
        <p:txBody>
          <a:bodyPr spcFirstLastPara="1" lIns="0" tIns="0" rIns="0" bIns="0" anchor="t" anchorCtr="0">
            <a:normAutofit/>
          </a:bodyPr>
          <a:lstStyle/>
          <a:p>
            <a:pPr>
              <a:spcAft>
                <a:spcPts val="600"/>
              </a:spcAft>
              <a:buSzPts val="2000"/>
            </a:pPr>
            <a:r>
              <a:rPr lang="en-US">
                <a:solidFill>
                  <a:schemeClr val="dk1"/>
                </a:solidFill>
              </a:rPr>
              <a:t>Our filius file </a:t>
            </a:r>
            <a:r>
              <a:rPr lang="en-US" b="0" i="0" u="none" strike="noStrike" cap="none" spc="0">
                <a:solidFill>
                  <a:schemeClr val="dk1"/>
                </a:solidFill>
              </a:rPr>
              <a:t>[</a:t>
            </a:r>
            <a:r>
              <a:rPr lang="en-US" b="0" i="0" u="none" strike="noStrike" cap="none" spc="0">
                <a:solidFill>
                  <a:schemeClr val="dk1"/>
                </a:solidFill>
                <a:hlinkClick r:id="rId3">
                  <a:extLst>
                    <a:ext uri="{A12FA001-AC4F-418D-AE19-62706E023703}">
                      <ahyp:hlinkClr xmlns:ahyp="http://schemas.microsoft.com/office/drawing/2018/hyperlinkcolor" val="tx"/>
                    </a:ext>
                  </a:extLst>
                </a:hlinkClick>
              </a:rPr>
              <a:t>here</a:t>
            </a:r>
            <a:r>
              <a:rPr lang="en-US" b="0" i="0" u="none" strike="noStrike" cap="none" spc="0">
                <a:solidFill>
                  <a:schemeClr val="dk1"/>
                </a:solidFill>
              </a:rPr>
              <a:t>]</a:t>
            </a:r>
          </a:p>
          <a:p>
            <a:pPr marL="0" lvl="0" indent="0">
              <a:spcAft>
                <a:spcPts val="600"/>
              </a:spcAft>
              <a:buSzPts val="2000"/>
              <a:buFont typeface="Arial"/>
              <a:buNone/>
            </a:pPr>
            <a:r>
              <a:rPr lang="en-US" b="0" i="0" u="none" strike="noStrike" cap="none" spc="0">
                <a:solidFill>
                  <a:schemeClr val="dk1"/>
                </a:solidFill>
              </a:rPr>
              <a:t>Run  A ping or browser request: from which machine to which</a:t>
            </a:r>
          </a:p>
          <a:p>
            <a:pPr marL="0" lvl="0" indent="0">
              <a:spcAft>
                <a:spcPts val="600"/>
              </a:spcAft>
              <a:buSzPts val="2000"/>
              <a:buFont typeface="Arial"/>
              <a:buNone/>
            </a:pPr>
            <a:r>
              <a:rPr lang="en-US" b="0" i="0" u="none" strike="noStrike" cap="none" spc="0">
                <a:solidFill>
                  <a:schemeClr val="dk1"/>
                </a:solidFill>
              </a:rPr>
              <a:t>Show  A successful reply across the network</a:t>
            </a:r>
          </a:p>
          <a:p>
            <a:pPr marL="0" lvl="0" indent="0">
              <a:spcAft>
                <a:spcPts val="600"/>
              </a:spcAft>
              <a:buSzPts val="2000"/>
              <a:buFont typeface="Arial"/>
              <a:buNone/>
            </a:pPr>
            <a:endParaRPr lang="en-US" b="0" i="0" u="none" strike="noStrike" cap="none" spc="0">
              <a:solidFill>
                <a:schemeClr val="dk1"/>
              </a:solidFill>
            </a:endParaRPr>
          </a:p>
        </p:txBody>
      </p:sp>
      <p:pic>
        <p:nvPicPr>
          <p:cNvPr id="2" name="Picture 1" descr="Are AI-powered networks already outperforming SD-WAN? | Network World">
            <a:extLst>
              <a:ext uri="{FF2B5EF4-FFF2-40B4-BE49-F238E27FC236}">
                <a16:creationId xmlns:a16="http://schemas.microsoft.com/office/drawing/2014/main" id="{75A820D7-C541-05D4-527A-CAB705DE3FE1}"/>
              </a:ext>
            </a:extLst>
          </p:cNvPr>
          <p:cNvPicPr>
            <a:picLocks noChangeAspect="1"/>
          </p:cNvPicPr>
          <p:nvPr/>
        </p:nvPicPr>
        <p:blipFill>
          <a:blip r:embed="rId4"/>
          <a:srcRect r="-1" b="13014"/>
          <a:stretch>
            <a:fillRect/>
          </a:stretch>
        </p:blipFill>
        <p:spPr>
          <a:xfrm>
            <a:off x="4764786" y="1459230"/>
            <a:ext cx="3752850" cy="3264408"/>
          </a:xfrm>
          <a:prstGeom prst="rect">
            <a:avLst/>
          </a:prstGeom>
          <a:noFill/>
          <a:ln>
            <a:noFill/>
          </a:ln>
        </p:spPr>
      </p:pic>
      <p:sp>
        <p:nvSpPr>
          <p:cNvPr id="96" name="Google Shape;96;p13" hidden="1"/>
          <p:cNvSpPr txBox="1">
            <a:spLocks noGrp="1"/>
          </p:cNvSpPr>
          <p:nvPr>
            <p:ph type="sldNum" idx="4294967295"/>
          </p:nvPr>
        </p:nvSpPr>
        <p:spPr>
          <a:xfrm>
            <a:off x="8046720" y="470916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600"/>
              </a:spcAft>
              <a:buNone/>
            </a:pPr>
            <a:fld id="{00000000-1234-1234-1234-123412341234}" type="slidenum">
              <a:rPr lang="en-US" b="0" i="0" u="none" strike="noStrike" cap="none">
                <a:solidFill>
                  <a:schemeClr val="accent3"/>
                </a:solidFill>
                <a:latin typeface="Calibri"/>
                <a:ea typeface="Calibri"/>
                <a:cs typeface="Calibri"/>
                <a:sym typeface="Calibri"/>
              </a:rPr>
              <a:pPr marL="0" marR="0" lvl="0" indent="0" algn="r" rtl="0">
                <a:spcBef>
                  <a:spcPts val="0"/>
                </a:spcBef>
                <a:spcAft>
                  <a:spcPts val="600"/>
                </a:spcAft>
                <a:buNone/>
              </a:pPr>
              <a:t>15</a:t>
            </a:fld>
            <a:endParaRPr lang="en-US" b="0" i="0" u="none" strike="noStrike" cap="none">
              <a:solidFill>
                <a:schemeClr val="accent3"/>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341906" y="341243"/>
            <a:ext cx="78638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600"/>
              <a:buFont typeface="Calibri"/>
              <a:buNone/>
            </a:pPr>
            <a:r>
              <a:rPr lang="en-US"/>
              <a:t>MP4: Cyber Security</a:t>
            </a:r>
            <a:endParaRPr lang="en-US" sz="3600"/>
          </a:p>
        </p:txBody>
      </p:sp>
      <p:sp>
        <p:nvSpPr>
          <p:cNvPr id="103" name="Google Shape;103;p14"/>
          <p:cNvSpPr txBox="1"/>
          <p:nvPr/>
        </p:nvSpPr>
        <p:spPr>
          <a:xfrm>
            <a:off x="343051" y="1213450"/>
            <a:ext cx="3931574" cy="3174533"/>
          </a:xfrm>
          <a:prstGeom prst="rect">
            <a:avLst/>
          </a:prstGeom>
          <a:noFill/>
          <a:ln>
            <a:noFill/>
          </a:ln>
        </p:spPr>
        <p:txBody>
          <a:bodyPr spcFirstLastPara="1" wrap="square" lIns="0" tIns="0" rIns="0" bIns="0" anchor="t" anchorCtr="0">
            <a:noAutofit/>
          </a:bodyPr>
          <a:lstStyle/>
          <a:p>
            <a:pPr>
              <a:buClr>
                <a:schemeClr val="accent2"/>
              </a:buClr>
              <a:buSzPts val="2000"/>
            </a:pPr>
            <a:r>
              <a:rPr lang="en-US" sz="2000" b="1" i="0" u="none" strike="noStrike" cap="none">
                <a:solidFill>
                  <a:schemeClr val="accent2"/>
                </a:solidFill>
                <a:latin typeface="Calibri"/>
                <a:ea typeface="Calibri"/>
                <a:cs typeface="Calibri"/>
                <a:sym typeface="Calibri"/>
              </a:rPr>
              <a:t>The problem</a:t>
            </a:r>
            <a:r>
              <a:rPr lang="en-US" sz="2000">
                <a:solidFill>
                  <a:schemeClr val="dk1"/>
                </a:solidFill>
                <a:latin typeface="Calibri"/>
                <a:ea typeface="Calibri"/>
                <a:cs typeface="Calibri"/>
                <a:sym typeface="Calibri"/>
              </a:rPr>
              <a:t> create a research paper about Cyber security</a:t>
            </a:r>
            <a:endParaRPr lang="en-US" sz="2000" b="0" i="0" u="none" strike="noStrike" cap="none">
              <a:solidFill>
                <a:schemeClr val="dk1"/>
              </a:solidFill>
              <a:latin typeface="Calibri"/>
              <a:ea typeface="Calibri"/>
              <a:cs typeface="Calibri"/>
              <a:sym typeface="Calibri"/>
            </a:endParaRPr>
          </a:p>
          <a:p>
            <a:pPr>
              <a:buSzPts val="2000"/>
            </a:pPr>
            <a:endParaRPr lang="en-US" sz="2000" b="1">
              <a:solidFill>
                <a:schemeClr val="accent2"/>
              </a:solidFill>
              <a:latin typeface="Calibri"/>
              <a:ea typeface="Calibri"/>
              <a:cs typeface="Calibri"/>
              <a:sym typeface="Calibri"/>
            </a:endParaRPr>
          </a:p>
          <a:p>
            <a:pPr>
              <a:buSzPts val="2000"/>
            </a:pPr>
            <a:r>
              <a:rPr lang="en-US" sz="2000" b="1" i="0" u="none" strike="noStrike" cap="none">
                <a:solidFill>
                  <a:schemeClr val="accent2"/>
                </a:solidFill>
                <a:latin typeface="Calibri"/>
                <a:ea typeface="Calibri"/>
                <a:cs typeface="Calibri"/>
                <a:sym typeface="Calibri"/>
              </a:rPr>
              <a:t>Our solution </a:t>
            </a:r>
            <a:r>
              <a:rPr lang="en-US" sz="2000">
                <a:solidFill>
                  <a:schemeClr val="dk1"/>
                </a:solidFill>
                <a:latin typeface="Calibri"/>
                <a:ea typeface="Calibri"/>
                <a:cs typeface="Calibri"/>
                <a:sym typeface="Calibri"/>
              </a:rPr>
              <a:t>Each person research a criteria of Cyber Security create a report providing references</a:t>
            </a:r>
            <a:endParaRPr lang="en-US" sz="2000" b="0" i="0" u="none" strike="noStrike" cap="none">
              <a:solidFill>
                <a:schemeClr val="dk1"/>
              </a:solidFill>
              <a:latin typeface="Calibri"/>
              <a:ea typeface="Calibri"/>
              <a:cs typeface="Calibri"/>
            </a:endParaRPr>
          </a:p>
          <a:p>
            <a:pPr>
              <a:buSzPts val="2000"/>
              <a:buFont typeface="Calibri"/>
            </a:pPr>
            <a:endParaRPr lang="en-US" sz="2000" b="1">
              <a:solidFill>
                <a:schemeClr val="accent2"/>
              </a:solidFill>
              <a:latin typeface="Calibri"/>
              <a:ea typeface="Calibri"/>
              <a:cs typeface="Calibri"/>
              <a:sym typeface="Calibri"/>
            </a:endParaRPr>
          </a:p>
          <a:p>
            <a:pPr>
              <a:buSzPts val="2000"/>
              <a:buFont typeface="Calibri"/>
            </a:pPr>
            <a:r>
              <a:rPr lang="en-US" sz="2000" b="1" i="0" u="none" strike="noStrike" cap="none">
                <a:solidFill>
                  <a:schemeClr val="accent2"/>
                </a:solidFill>
                <a:latin typeface="Calibri"/>
                <a:ea typeface="Calibri"/>
                <a:cs typeface="Calibri"/>
                <a:sym typeface="Calibri"/>
              </a:rPr>
              <a:t>One </a:t>
            </a:r>
            <a:r>
              <a:rPr lang="en-US" sz="2000" b="1">
                <a:solidFill>
                  <a:schemeClr val="accent2"/>
                </a:solidFill>
                <a:latin typeface="Calibri"/>
                <a:ea typeface="Calibri"/>
                <a:cs typeface="Calibri"/>
                <a:sym typeface="Calibri"/>
              </a:rPr>
              <a:t>decision </a:t>
            </a:r>
            <a:r>
              <a:rPr lang="en-US" sz="2000">
                <a:solidFill>
                  <a:schemeClr val="tx1"/>
                </a:solidFill>
                <a:latin typeface="Calibri"/>
                <a:ea typeface="Calibri"/>
                <a:cs typeface="Calibri"/>
                <a:sym typeface="Calibri"/>
              </a:rPr>
              <a:t>Who researches which criteria of cyber security</a:t>
            </a:r>
            <a:endParaRPr lang="en-US" sz="2000" b="0" i="0" u="none" strike="noStrike" cap="none">
              <a:solidFill>
                <a:schemeClr val="tx1"/>
              </a:solidFill>
              <a:latin typeface="Calibri"/>
              <a:ea typeface="Calibri"/>
              <a:cs typeface="Calibri"/>
            </a:endParaRPr>
          </a:p>
        </p:txBody>
      </p:sp>
      <p:sp>
        <p:nvSpPr>
          <p:cNvPr id="104" name="Google Shape;104;p14"/>
          <p:cNvSpPr txBox="1">
            <a:spLocks noGrp="1"/>
          </p:cNvSpPr>
          <p:nvPr>
            <p:ph type="sldNum" idx="4294967295"/>
          </p:nvPr>
        </p:nvSpPr>
        <p:spPr>
          <a:xfrm>
            <a:off x="8046720" y="470916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3"/>
                </a:solidFill>
                <a:latin typeface="Calibri"/>
                <a:ea typeface="Calibri"/>
                <a:cs typeface="Calibri"/>
                <a:sym typeface="Calibri"/>
              </a:rPr>
              <a:t>16</a:t>
            </a:fld>
            <a:endParaRPr lang="en-US" sz="1000" b="0" i="0" u="none" strike="noStrike" cap="none">
              <a:solidFill>
                <a:schemeClr val="accent3"/>
              </a:solidFill>
              <a:latin typeface="Calibri"/>
              <a:ea typeface="Calibri"/>
              <a:cs typeface="Calibri"/>
              <a:sym typeface="Calibri"/>
            </a:endParaRPr>
          </a:p>
        </p:txBody>
      </p:sp>
      <p:pic>
        <p:nvPicPr>
          <p:cNvPr id="2" name="Picture 1" descr="MFA Methods Compared: SMS, Authenticator &amp; Biometrics (2026)">
            <a:extLst>
              <a:ext uri="{FF2B5EF4-FFF2-40B4-BE49-F238E27FC236}">
                <a16:creationId xmlns:a16="http://schemas.microsoft.com/office/drawing/2014/main" id="{8DC64227-79A6-4DFD-07C9-EC4B5640D223}"/>
              </a:ext>
            </a:extLst>
          </p:cNvPr>
          <p:cNvPicPr>
            <a:picLocks noChangeAspect="1"/>
          </p:cNvPicPr>
          <p:nvPr/>
        </p:nvPicPr>
        <p:blipFill>
          <a:blip r:embed="rId3"/>
          <a:stretch>
            <a:fillRect/>
          </a:stretch>
        </p:blipFill>
        <p:spPr>
          <a:xfrm>
            <a:off x="4322016" y="1076738"/>
            <a:ext cx="4632991" cy="363606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5"/>
          <p:cNvSpPr txBox="1">
            <a:spLocks noGrp="1"/>
          </p:cNvSpPr>
          <p:nvPr>
            <p:ph type="title"/>
          </p:nvPr>
        </p:nvSpPr>
        <p:spPr>
          <a:xfrm>
            <a:off x="640080" y="457200"/>
            <a:ext cx="78638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600"/>
              <a:buFont typeface="Calibri"/>
              <a:buNone/>
            </a:pPr>
            <a:r>
              <a:rPr lang="en-US" sz="3600">
                <a:solidFill>
                  <a:schemeClr val="dk1"/>
                </a:solidFill>
              </a:rPr>
              <a:t>Mini demo: </a:t>
            </a:r>
            <a:r>
              <a:rPr lang="en-US"/>
              <a:t>MFA </a:t>
            </a:r>
            <a:endParaRPr sz="3600"/>
          </a:p>
        </p:txBody>
      </p:sp>
      <p:sp>
        <p:nvSpPr>
          <p:cNvPr id="111" name="Google Shape;111;p15"/>
          <p:cNvSpPr txBox="1"/>
          <p:nvPr/>
        </p:nvSpPr>
        <p:spPr>
          <a:xfrm>
            <a:off x="640080" y="1188720"/>
            <a:ext cx="4581714" cy="2743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2000"/>
              <a:buFont typeface="Calibri"/>
              <a:buNone/>
            </a:pPr>
            <a:r>
              <a:rPr lang="en-US" sz="2000" b="1">
                <a:solidFill>
                  <a:schemeClr val="accent2"/>
                </a:solidFill>
                <a:latin typeface="Calibri"/>
                <a:ea typeface="Calibri"/>
                <a:cs typeface="Calibri"/>
                <a:sym typeface="Calibri"/>
              </a:rPr>
              <a:t>Link </a:t>
            </a:r>
            <a:r>
              <a:rPr lang="en-US" sz="2000">
                <a:solidFill>
                  <a:schemeClr val="tx1"/>
                </a:solidFill>
                <a:latin typeface="Calibri"/>
                <a:ea typeface="Calibri"/>
                <a:cs typeface="Calibri"/>
                <a:sym typeface="Calibri"/>
                <a:hlinkClick r:id="rId3"/>
              </a:rPr>
              <a:t>Sample of Cyber Security document</a:t>
            </a:r>
            <a:endParaRPr lang="en-US" sz="2000" b="1" i="0" u="none" strike="noStrike" cap="none">
              <a:solidFill>
                <a:schemeClr val="tx1"/>
              </a:solidFill>
              <a:latin typeface="Calibri"/>
              <a:ea typeface="Calibri"/>
              <a:cs typeface="Calibri"/>
              <a:sym typeface="Calibri"/>
              <a:hlinkClick r:id="rId3"/>
            </a:endParaRPr>
          </a:p>
          <a:p>
            <a:pPr>
              <a:buClr>
                <a:schemeClr val="accent2"/>
              </a:buClr>
              <a:buSzPts val="2000"/>
            </a:pPr>
            <a:endParaRPr lang="en-US" sz="2000" b="1">
              <a:solidFill>
                <a:schemeClr val="accent2"/>
              </a:solidFill>
              <a:latin typeface="Calibri"/>
              <a:ea typeface="Calibri"/>
              <a:cs typeface="Calibri"/>
              <a:sym typeface="Calibri"/>
            </a:endParaRPr>
          </a:p>
          <a:p>
            <a:pPr>
              <a:buSzPts val="2000"/>
            </a:pPr>
            <a:r>
              <a:rPr lang="en-US" sz="2000" b="1" i="0" u="none" strike="noStrike" cap="none">
                <a:solidFill>
                  <a:schemeClr val="accent2"/>
                </a:solidFill>
                <a:latin typeface="Calibri"/>
                <a:ea typeface="Calibri"/>
                <a:cs typeface="Calibri"/>
                <a:sym typeface="Calibri"/>
              </a:rPr>
              <a:t>Point </a:t>
            </a:r>
            <a:r>
              <a:rPr lang="en-US" sz="2000" i="0" u="none" strike="noStrike" cap="none">
                <a:solidFill>
                  <a:schemeClr val="tx1"/>
                </a:solidFill>
                <a:latin typeface="Calibri"/>
                <a:ea typeface="Calibri"/>
                <a:cs typeface="Calibri"/>
                <a:sym typeface="Calibri"/>
              </a:rPr>
              <a:t>I </a:t>
            </a:r>
            <a:r>
              <a:rPr lang="en-US" sz="2000">
                <a:solidFill>
                  <a:schemeClr val="tx1"/>
                </a:solidFill>
                <a:latin typeface="Calibri"/>
                <a:ea typeface="Calibri"/>
                <a:cs typeface="Calibri"/>
                <a:sym typeface="Calibri"/>
              </a:rPr>
              <a:t>decided to</a:t>
            </a:r>
            <a:r>
              <a:rPr lang="en-US" sz="2000" i="0" u="none" strike="noStrike" cap="none">
                <a:solidFill>
                  <a:schemeClr val="tx1"/>
                </a:solidFill>
                <a:latin typeface="Calibri"/>
                <a:ea typeface="Calibri"/>
                <a:cs typeface="Calibri"/>
                <a:sym typeface="Calibri"/>
              </a:rPr>
              <a:t> use my part of the research paper since it is the part of our research paper</a:t>
            </a:r>
            <a:r>
              <a:rPr lang="en-US" sz="2000">
                <a:solidFill>
                  <a:schemeClr val="tx1"/>
                </a:solidFill>
                <a:latin typeface="Calibri"/>
                <a:ea typeface="Calibri"/>
                <a:cs typeface="Calibri"/>
                <a:sym typeface="Calibri"/>
              </a:rPr>
              <a:t>,</a:t>
            </a:r>
            <a:r>
              <a:rPr lang="en-US" sz="2000" i="0" u="none" strike="noStrike" cap="none">
                <a:solidFill>
                  <a:schemeClr val="tx1"/>
                </a:solidFill>
                <a:latin typeface="Calibri"/>
                <a:ea typeface="Calibri"/>
                <a:cs typeface="Calibri"/>
                <a:sym typeface="Calibri"/>
              </a:rPr>
              <a:t> I'm most familiar with</a:t>
            </a:r>
            <a:endParaRPr lang="en-GB" sz="2000" b="0" i="0" u="none" strike="noStrike" cap="none">
              <a:solidFill>
                <a:schemeClr val="tx1"/>
              </a:solidFill>
              <a:latin typeface="Calibri"/>
              <a:ea typeface="Calibri"/>
              <a:cs typeface="Calibri"/>
            </a:endParaRPr>
          </a:p>
          <a:p>
            <a:pPr marL="0" marR="0" lvl="0" indent="0" algn="l" rtl="0">
              <a:spcBef>
                <a:spcPts val="0"/>
              </a:spcBef>
              <a:spcAft>
                <a:spcPts val="0"/>
              </a:spcAft>
              <a:buClr>
                <a:schemeClr val="accent2"/>
              </a:buClr>
              <a:buSzPts val="2000"/>
              <a:buFont typeface="Calibri"/>
              <a:buNone/>
            </a:pPr>
            <a:endParaRPr sz="2000" b="0" i="0" u="none" strike="noStrike" cap="none">
              <a:solidFill>
                <a:schemeClr val="dk1"/>
              </a:solidFill>
              <a:latin typeface="Calibri"/>
              <a:ea typeface="Calibri"/>
              <a:cs typeface="Calibri"/>
              <a:sym typeface="Calibri"/>
            </a:endParaRPr>
          </a:p>
        </p:txBody>
      </p:sp>
      <p:sp>
        <p:nvSpPr>
          <p:cNvPr id="112" name="Google Shape;112;p15"/>
          <p:cNvSpPr txBox="1">
            <a:spLocks noGrp="1"/>
          </p:cNvSpPr>
          <p:nvPr>
            <p:ph type="sldNum" idx="4294967295"/>
          </p:nvPr>
        </p:nvSpPr>
        <p:spPr>
          <a:xfrm>
            <a:off x="8046720" y="470916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3"/>
                </a:solidFill>
                <a:latin typeface="Calibri"/>
                <a:ea typeface="Calibri"/>
                <a:cs typeface="Calibri"/>
                <a:sym typeface="Calibri"/>
              </a:rPr>
              <a:t>17</a:t>
            </a:fld>
            <a:endParaRPr sz="1000" b="0" i="0" u="none" strike="noStrike" cap="none">
              <a:solidFill>
                <a:schemeClr val="accent3"/>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88B48EB3-F671-22E2-633E-8E3882B92369}"/>
              </a:ext>
            </a:extLst>
          </p:cNvPr>
          <p:cNvPicPr>
            <a:picLocks noChangeAspect="1"/>
          </p:cNvPicPr>
          <p:nvPr/>
        </p:nvPicPr>
        <p:blipFill>
          <a:blip r:embed="rId4"/>
          <a:stretch>
            <a:fillRect/>
          </a:stretch>
        </p:blipFill>
        <p:spPr>
          <a:xfrm>
            <a:off x="5526367" y="570440"/>
            <a:ext cx="3423294" cy="41409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640080" y="457200"/>
            <a:ext cx="78638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600"/>
              <a:buFont typeface="Calibri"/>
              <a:buNone/>
            </a:pPr>
            <a:r>
              <a:rPr lang="en-US" sz="3600">
                <a:solidFill>
                  <a:schemeClr val="dk1"/>
                </a:solidFill>
              </a:rPr>
              <a:t>What links the four projects</a:t>
            </a:r>
            <a:endParaRPr sz="3600"/>
          </a:p>
        </p:txBody>
      </p:sp>
      <p:sp>
        <p:nvSpPr>
          <p:cNvPr id="119" name="Google Shape;119;p16"/>
          <p:cNvSpPr txBox="1"/>
          <p:nvPr/>
        </p:nvSpPr>
        <p:spPr>
          <a:xfrm>
            <a:off x="640080" y="1783080"/>
            <a:ext cx="7863840" cy="2743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2000"/>
              <a:buFont typeface="Calibri"/>
              <a:buNone/>
            </a:pPr>
            <a:r>
              <a:rPr lang="en-US" sz="2000" b="1" i="0" u="none" strike="noStrike" cap="none">
                <a:solidFill>
                  <a:schemeClr val="accent2"/>
                </a:solidFill>
                <a:latin typeface="Calibri"/>
                <a:ea typeface="Calibri"/>
                <a:cs typeface="Calibri"/>
                <a:sym typeface="Calibri"/>
              </a:rPr>
              <a:t>How they connect  </a:t>
            </a:r>
            <a:r>
              <a:rPr lang="en-GB" sz="2000" b="0" i="0" u="none" strike="noStrike" cap="none">
                <a:solidFill>
                  <a:schemeClr val="dk1"/>
                </a:solidFill>
                <a:latin typeface="Calibri"/>
                <a:ea typeface="Calibri"/>
                <a:cs typeface="Calibri"/>
                <a:sym typeface="Calibri"/>
              </a:rPr>
              <a:t>All these mini projects connect different essential and important aspects of computing</a:t>
            </a:r>
            <a:endParaRPr sz="20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2"/>
              </a:buClr>
              <a:buSzPts val="2000"/>
              <a:buFont typeface="Calibri"/>
              <a:buNone/>
            </a:pPr>
            <a:r>
              <a:rPr lang="en-US" sz="2000" b="1" i="0" u="none" strike="noStrike" cap="none">
                <a:solidFill>
                  <a:schemeClr val="accent2"/>
                </a:solidFill>
                <a:latin typeface="Calibri"/>
                <a:ea typeface="Calibri"/>
                <a:cs typeface="Calibri"/>
                <a:sym typeface="Calibri"/>
              </a:rPr>
              <a:t>What went well  </a:t>
            </a:r>
            <a:r>
              <a:rPr lang="en-GB" sz="2000">
                <a:solidFill>
                  <a:schemeClr val="dk1"/>
                </a:solidFill>
                <a:latin typeface="Calibri"/>
                <a:ea typeface="Calibri"/>
                <a:cs typeface="Calibri"/>
                <a:sym typeface="Calibri"/>
              </a:rPr>
              <a:t>We were quick when it came to getting the work done</a:t>
            </a:r>
            <a:endParaRPr sz="20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2"/>
              </a:buClr>
              <a:buSzPts val="2000"/>
              <a:buFont typeface="Calibri"/>
              <a:buNone/>
            </a:pPr>
            <a:r>
              <a:rPr lang="en-US" sz="2000" b="1" i="0" u="none" strike="noStrike" cap="none">
                <a:solidFill>
                  <a:schemeClr val="accent2"/>
                </a:solidFill>
                <a:latin typeface="Calibri"/>
                <a:ea typeface="Calibri"/>
                <a:cs typeface="Calibri"/>
                <a:sym typeface="Calibri"/>
              </a:rPr>
              <a:t>What was hard or unfinished  </a:t>
            </a:r>
            <a:r>
              <a:rPr lang="en-GB" sz="2000" b="0" i="0" u="none" strike="noStrike" cap="none">
                <a:solidFill>
                  <a:schemeClr val="dk1"/>
                </a:solidFill>
                <a:latin typeface="Calibri"/>
                <a:ea typeface="Calibri"/>
                <a:cs typeface="Calibri"/>
                <a:sym typeface="Calibri"/>
              </a:rPr>
              <a:t>I challenge we faced was communication</a:t>
            </a:r>
          </a:p>
          <a:p>
            <a:pPr marL="0" marR="0" lvl="0" indent="0" algn="l" rtl="0">
              <a:spcBef>
                <a:spcPts val="0"/>
              </a:spcBef>
              <a:spcAft>
                <a:spcPts val="0"/>
              </a:spcAft>
              <a:buClr>
                <a:schemeClr val="accent2"/>
              </a:buClr>
              <a:buSzPts val="2000"/>
              <a:buFont typeface="Calibri"/>
              <a:buNone/>
            </a:pPr>
            <a:r>
              <a:rPr lang="en-GB" sz="2000" b="1" i="0" u="none" strike="noStrike" cap="none">
                <a:solidFill>
                  <a:schemeClr val="accent2"/>
                </a:solidFill>
                <a:latin typeface="Calibri"/>
                <a:ea typeface="Calibri"/>
                <a:cs typeface="Calibri"/>
                <a:sym typeface="Calibri"/>
              </a:rPr>
              <a:t>What we learned  </a:t>
            </a:r>
            <a:r>
              <a:rPr lang="en-GB" sz="2000" b="0" i="0" u="none" strike="noStrike" cap="none">
                <a:solidFill>
                  <a:schemeClr val="dk1"/>
                </a:solidFill>
                <a:latin typeface="Calibri"/>
                <a:ea typeface="Calibri"/>
                <a:cs typeface="Calibri"/>
                <a:sym typeface="Calibri"/>
              </a:rPr>
              <a:t>working as a team is essential with project work and communication is important</a:t>
            </a:r>
          </a:p>
        </p:txBody>
      </p:sp>
      <p:sp>
        <p:nvSpPr>
          <p:cNvPr id="120" name="Google Shape;120;p16"/>
          <p:cNvSpPr txBox="1">
            <a:spLocks noGrp="1"/>
          </p:cNvSpPr>
          <p:nvPr>
            <p:ph type="sldNum" idx="4294967295"/>
          </p:nvPr>
        </p:nvSpPr>
        <p:spPr>
          <a:xfrm>
            <a:off x="8046720" y="470916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3"/>
                </a:solidFill>
                <a:latin typeface="Calibri"/>
                <a:ea typeface="Calibri"/>
                <a:cs typeface="Calibri"/>
                <a:sym typeface="Calibri"/>
              </a:rPr>
              <a:t>18</a:t>
            </a:fld>
            <a:endParaRPr sz="1000" b="0" i="0" u="none" strike="noStrike" cap="none">
              <a:solidFill>
                <a:schemeClr val="accent3"/>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xfrm>
            <a:off x="640080" y="457200"/>
            <a:ext cx="78638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600"/>
              <a:buFont typeface="Calibri"/>
              <a:buNone/>
            </a:pPr>
            <a:r>
              <a:rPr lang="en-US" sz="3600">
                <a:solidFill>
                  <a:schemeClr val="dk1"/>
                </a:solidFill>
              </a:rPr>
              <a:t>How we used and checked GAI</a:t>
            </a:r>
            <a:endParaRPr sz="3600"/>
          </a:p>
        </p:txBody>
      </p:sp>
      <p:sp>
        <p:nvSpPr>
          <p:cNvPr id="127" name="Google Shape;127;p17"/>
          <p:cNvSpPr txBox="1"/>
          <p:nvPr/>
        </p:nvSpPr>
        <p:spPr>
          <a:xfrm>
            <a:off x="640080" y="1112530"/>
            <a:ext cx="7863900" cy="2743200"/>
          </a:xfrm>
          <a:prstGeom prst="rect">
            <a:avLst/>
          </a:prstGeom>
          <a:noFill/>
          <a:ln>
            <a:noFill/>
          </a:ln>
        </p:spPr>
        <p:txBody>
          <a:bodyPr spcFirstLastPara="1" wrap="square" lIns="0" tIns="0" rIns="0" bIns="0" anchor="t" anchorCtr="0">
            <a:noAutofit/>
          </a:bodyPr>
          <a:lstStyle/>
          <a:p>
            <a:pPr>
              <a:buClr>
                <a:schemeClr val="accent2"/>
              </a:buClr>
              <a:buSzPts val="2000"/>
            </a:pPr>
            <a:endParaRPr lang="en-US" sz="2000" b="1">
              <a:solidFill>
                <a:schemeClr val="accent2"/>
              </a:solidFill>
              <a:latin typeface="Calibri"/>
              <a:ea typeface="Calibri"/>
              <a:cs typeface="Calibri"/>
              <a:sym typeface="Calibri"/>
            </a:endParaRPr>
          </a:p>
          <a:p>
            <a:pPr marL="0" marR="0" lvl="0" indent="0" algn="l">
              <a:spcBef>
                <a:spcPts val="0"/>
              </a:spcBef>
              <a:spcAft>
                <a:spcPts val="0"/>
              </a:spcAft>
              <a:buSzPts val="2000"/>
              <a:buFont typeface="Calibri"/>
              <a:buNone/>
            </a:pPr>
            <a:r>
              <a:rPr lang="en-US" sz="2000" b="1" i="0" u="none" strike="noStrike" cap="none">
                <a:solidFill>
                  <a:schemeClr val="accent2"/>
                </a:solidFill>
                <a:latin typeface="Calibri"/>
                <a:ea typeface="Calibri"/>
                <a:cs typeface="Calibri"/>
                <a:sym typeface="Calibri"/>
              </a:rPr>
              <a:t>MP1  </a:t>
            </a:r>
            <a:r>
              <a:rPr lang="en-US" sz="2000" b="0" i="0" u="none" strike="noStrike" cap="none">
                <a:solidFill>
                  <a:schemeClr val="dk1"/>
                </a:solidFill>
                <a:latin typeface="Calibri"/>
                <a:ea typeface="Calibri"/>
                <a:cs typeface="Calibri"/>
                <a:sym typeface="Calibri"/>
              </a:rPr>
              <a:t>Not used→  </a:t>
            </a:r>
            <a:r>
              <a:rPr lang="en-GB" sz="2000" b="0" i="0" u="none" strike="noStrike" cap="none">
                <a:solidFill>
                  <a:schemeClr val="dk1"/>
                </a:solidFill>
                <a:latin typeface="Calibri"/>
                <a:ea typeface="Calibri"/>
                <a:cs typeface="Calibri"/>
                <a:sym typeface="Calibri"/>
              </a:rPr>
              <a:t>No Ai was used or needed to be used for the builds, nor the complete database.</a:t>
            </a:r>
            <a:endParaRPr sz="2000" b="0" i="0" u="none" strike="noStrike" cap="none">
              <a:solidFill>
                <a:schemeClr val="dk1"/>
              </a:solidFill>
              <a:latin typeface="Calibri"/>
              <a:ea typeface="Calibri"/>
              <a:cs typeface="Calibri"/>
            </a:endParaRPr>
          </a:p>
          <a:p>
            <a:pPr>
              <a:buClr>
                <a:schemeClr val="accent2"/>
              </a:buClr>
              <a:buSzPts val="2000"/>
            </a:pPr>
            <a:endParaRPr lang="en-US" sz="2000" b="1">
              <a:solidFill>
                <a:schemeClr val="accent2"/>
              </a:solidFill>
              <a:latin typeface="Calibri"/>
              <a:ea typeface="Calibri"/>
              <a:cs typeface="Calibri"/>
              <a:sym typeface="Calibri"/>
            </a:endParaRPr>
          </a:p>
          <a:p>
            <a:pPr marL="0" marR="0" lvl="0" indent="0" algn="l">
              <a:spcBef>
                <a:spcPts val="0"/>
              </a:spcBef>
              <a:spcAft>
                <a:spcPts val="0"/>
              </a:spcAft>
              <a:buSzPts val="2000"/>
              <a:buFont typeface="Calibri"/>
              <a:buNone/>
            </a:pPr>
            <a:r>
              <a:rPr lang="en-US" sz="2000" b="1" i="0" u="none" strike="noStrike" cap="none">
                <a:solidFill>
                  <a:schemeClr val="accent2"/>
                </a:solidFill>
                <a:latin typeface="Calibri"/>
                <a:ea typeface="Calibri"/>
                <a:cs typeface="Calibri"/>
                <a:sym typeface="Calibri"/>
              </a:rPr>
              <a:t>MP2  </a:t>
            </a:r>
            <a:r>
              <a:rPr lang="en-US" sz="2000">
                <a:solidFill>
                  <a:schemeClr val="dk1"/>
                </a:solidFill>
                <a:latin typeface="Calibri"/>
                <a:ea typeface="Calibri"/>
                <a:cs typeface="Calibri"/>
                <a:sym typeface="Calibri"/>
              </a:rPr>
              <a:t>Not used at all </a:t>
            </a:r>
            <a:r>
              <a:rPr lang="en-US" sz="2000" b="0" i="0" u="none" strike="noStrike" cap="none">
                <a:solidFill>
                  <a:schemeClr val="dk1"/>
                </a:solidFill>
                <a:latin typeface="Calibri"/>
                <a:ea typeface="Calibri"/>
                <a:cs typeface="Calibri"/>
                <a:sym typeface="Calibri"/>
              </a:rPr>
              <a:t>→  </a:t>
            </a:r>
            <a:r>
              <a:rPr lang="en-GB" sz="2000" b="0" i="0" u="none" strike="noStrike" cap="none">
                <a:solidFill>
                  <a:schemeClr val="dk1"/>
                </a:solidFill>
                <a:latin typeface="Calibri"/>
                <a:ea typeface="Calibri"/>
                <a:cs typeface="Calibri"/>
                <a:sym typeface="Calibri"/>
              </a:rPr>
              <a:t>No Ai was </a:t>
            </a:r>
            <a:r>
              <a:rPr lang="en-GB" sz="2000">
                <a:solidFill>
                  <a:schemeClr val="dk1"/>
                </a:solidFill>
                <a:latin typeface="Calibri"/>
                <a:ea typeface="Calibri"/>
                <a:cs typeface="Calibri"/>
                <a:sym typeface="Calibri"/>
              </a:rPr>
              <a:t>used to create or help the creation of the Flowgorithm application nor the document.</a:t>
            </a:r>
            <a:endParaRPr lang="en-US" sz="2000" b="1">
              <a:solidFill>
                <a:schemeClr val="dk1"/>
              </a:solidFill>
              <a:latin typeface="Calibri"/>
              <a:ea typeface="Calibri"/>
              <a:cs typeface="Calibri"/>
              <a:sym typeface="Calibri"/>
            </a:endParaRPr>
          </a:p>
          <a:p>
            <a:pPr lvl="0">
              <a:buSzPts val="2000"/>
            </a:pPr>
            <a:r>
              <a:rPr lang="en-US" sz="2000" b="1" i="0" u="none" strike="noStrike" cap="none">
                <a:solidFill>
                  <a:schemeClr val="accent2"/>
                </a:solidFill>
                <a:latin typeface="Calibri"/>
                <a:ea typeface="Calibri"/>
                <a:cs typeface="Calibri"/>
                <a:sym typeface="Calibri"/>
              </a:rPr>
              <a:t>MP3  </a:t>
            </a:r>
            <a:r>
              <a:rPr lang="en-US" sz="2000">
                <a:solidFill>
                  <a:schemeClr val="dk1"/>
                </a:solidFill>
                <a:latin typeface="Calibri"/>
                <a:ea typeface="Calibri"/>
                <a:cs typeface="Calibri"/>
                <a:sym typeface="Calibri"/>
              </a:rPr>
              <a:t>Not used at all </a:t>
            </a:r>
            <a:r>
              <a:rPr lang="en-US" sz="2000" b="0" i="0" u="none" strike="noStrike" cap="none">
                <a:solidFill>
                  <a:schemeClr val="dk1"/>
                </a:solidFill>
                <a:latin typeface="Calibri"/>
                <a:ea typeface="Calibri"/>
                <a:cs typeface="Calibri"/>
                <a:sym typeface="Calibri"/>
              </a:rPr>
              <a:t>→  </a:t>
            </a:r>
            <a:r>
              <a:rPr lang="en-GB" sz="2000" b="0" i="0" u="none" strike="noStrike" cap="none">
                <a:solidFill>
                  <a:schemeClr val="dk1"/>
                </a:solidFill>
                <a:latin typeface="Calibri"/>
                <a:ea typeface="Calibri"/>
                <a:cs typeface="Calibri"/>
                <a:sym typeface="Calibri"/>
              </a:rPr>
              <a:t>No Ai was used to create the networks</a:t>
            </a:r>
            <a:endParaRPr sz="2000" b="0" i="0" u="none" strike="noStrike" cap="none">
              <a:solidFill>
                <a:schemeClr val="dk1"/>
              </a:solidFill>
              <a:latin typeface="Calibri"/>
              <a:ea typeface="Calibri"/>
              <a:cs typeface="Calibri"/>
            </a:endParaRPr>
          </a:p>
          <a:p>
            <a:pPr>
              <a:buClr>
                <a:schemeClr val="accent2"/>
              </a:buClr>
              <a:buSzPts val="2000"/>
            </a:pPr>
            <a:endParaRPr lang="en-US" sz="2000" b="1">
              <a:solidFill>
                <a:schemeClr val="accent2"/>
              </a:solidFill>
              <a:latin typeface="Calibri"/>
              <a:ea typeface="Calibri"/>
              <a:cs typeface="Calibri"/>
              <a:sym typeface="Calibri"/>
            </a:endParaRPr>
          </a:p>
          <a:p>
            <a:pPr>
              <a:buSzPts val="2000"/>
            </a:pPr>
            <a:r>
              <a:rPr lang="en-US" sz="2000" b="1" i="0" u="none" strike="noStrike" cap="none">
                <a:solidFill>
                  <a:schemeClr val="accent2"/>
                </a:solidFill>
                <a:latin typeface="Calibri"/>
                <a:ea typeface="Calibri"/>
                <a:cs typeface="Calibri"/>
                <a:sym typeface="Calibri"/>
              </a:rPr>
              <a:t>MP4  </a:t>
            </a:r>
            <a:r>
              <a:rPr lang="en-US" sz="2000">
                <a:solidFill>
                  <a:schemeClr val="dk1"/>
                </a:solidFill>
                <a:latin typeface="Calibri"/>
                <a:ea typeface="Calibri"/>
                <a:cs typeface="Calibri"/>
                <a:sym typeface="Calibri"/>
              </a:rPr>
              <a:t>Not / partly used</a:t>
            </a:r>
            <a:r>
              <a:rPr lang="en-US" sz="2000" b="0" i="0" u="none" strike="noStrike" cap="none">
                <a:solidFill>
                  <a:schemeClr val="dk1"/>
                </a:solidFill>
                <a:latin typeface="Calibri"/>
                <a:ea typeface="Calibri"/>
                <a:cs typeface="Calibri"/>
                <a:sym typeface="Calibri"/>
              </a:rPr>
              <a:t>  →  </a:t>
            </a:r>
            <a:r>
              <a:rPr lang="en-US" sz="2000">
                <a:solidFill>
                  <a:schemeClr val="dk1"/>
                </a:solidFill>
                <a:latin typeface="Calibri"/>
                <a:ea typeface="Calibri"/>
                <a:cs typeface="Calibri"/>
                <a:sym typeface="Calibri"/>
              </a:rPr>
              <a:t>during our research we avoided using AI, but some members used AI when gathering their data since we saw errors in their referencing</a:t>
            </a:r>
            <a:endParaRPr lang="en-US" sz="2000" b="0" i="0" u="none" strike="noStrike" cap="none">
              <a:solidFill>
                <a:schemeClr val="dk1"/>
              </a:solidFill>
              <a:latin typeface="Calibri"/>
              <a:ea typeface="Calibri"/>
              <a:cs typeface="Calibri"/>
            </a:endParaRPr>
          </a:p>
        </p:txBody>
      </p:sp>
      <p:sp>
        <p:nvSpPr>
          <p:cNvPr id="128" name="Google Shape;128;p17"/>
          <p:cNvSpPr txBox="1">
            <a:spLocks noGrp="1"/>
          </p:cNvSpPr>
          <p:nvPr>
            <p:ph type="sldNum" idx="4294967295"/>
          </p:nvPr>
        </p:nvSpPr>
        <p:spPr>
          <a:xfrm>
            <a:off x="8046720" y="470916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3"/>
                </a:solidFill>
                <a:latin typeface="Calibri"/>
                <a:ea typeface="Calibri"/>
                <a:cs typeface="Calibri"/>
                <a:sym typeface="Calibri"/>
              </a:rPr>
              <a:t>19</a:t>
            </a:fld>
            <a:endParaRPr sz="1000" b="0" i="0" u="none" strike="noStrike" cap="none">
              <a:solidFill>
                <a:schemeClr val="accent3"/>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8"/>
          <p:cNvSpPr txBox="1">
            <a:spLocks noGrp="1"/>
          </p:cNvSpPr>
          <p:nvPr>
            <p:ph type="title"/>
          </p:nvPr>
        </p:nvSpPr>
        <p:spPr>
          <a:xfrm>
            <a:off x="640080" y="457200"/>
            <a:ext cx="7863840" cy="7315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3600"/>
              <a:buFont typeface="Calibri"/>
              <a:buNone/>
            </a:pPr>
            <a:r>
              <a:rPr lang="en-US" sz="3600">
                <a:solidFill>
                  <a:schemeClr val="dk1"/>
                </a:solidFill>
              </a:rPr>
              <a:t>Conclusion and questions ?</a:t>
            </a:r>
            <a:endParaRPr sz="3600"/>
          </a:p>
        </p:txBody>
      </p:sp>
      <p:sp>
        <p:nvSpPr>
          <p:cNvPr id="135" name="Google Shape;135;p18"/>
          <p:cNvSpPr txBox="1"/>
          <p:nvPr/>
        </p:nvSpPr>
        <p:spPr>
          <a:xfrm>
            <a:off x="640080" y="1783080"/>
            <a:ext cx="7863840" cy="2743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2000"/>
              <a:buFont typeface="Calibri"/>
              <a:buNone/>
            </a:pPr>
            <a:r>
              <a:rPr lang="en-US" sz="2000" b="1" i="0" u="none" strike="noStrike" cap="none">
                <a:solidFill>
                  <a:schemeClr val="accent2"/>
                </a:solidFill>
                <a:latin typeface="Calibri"/>
                <a:ea typeface="Calibri"/>
                <a:cs typeface="Calibri"/>
                <a:sym typeface="Calibri"/>
              </a:rPr>
              <a:t>Takeaway  </a:t>
            </a:r>
            <a:r>
              <a:rPr lang="en-US" sz="2000">
                <a:solidFill>
                  <a:schemeClr val="dk1"/>
                </a:solidFill>
                <a:latin typeface="Calibri"/>
                <a:ea typeface="Calibri"/>
                <a:cs typeface="Calibri"/>
                <a:sym typeface="Calibri"/>
              </a:rPr>
              <a:t>overall, we as a team believe that we could have communicated as a team better, and motivated each other to push through with doing our work on time efficiently</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accent2"/>
              </a:buClr>
              <a:buSzPts val="2000"/>
              <a:buFont typeface="Calibri"/>
              <a:buNone/>
            </a:pP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accent2"/>
              </a:buClr>
              <a:buSzPts val="2000"/>
              <a:buFont typeface="Calibri"/>
              <a:buNone/>
            </a:pPr>
            <a:r>
              <a:rPr lang="en-US" sz="2000" b="1" i="0" u="none" strike="noStrike" cap="none">
                <a:solidFill>
                  <a:schemeClr val="accent2"/>
                </a:solidFill>
                <a:latin typeface="Calibri"/>
                <a:ea typeface="Calibri"/>
                <a:cs typeface="Calibri"/>
                <a:sym typeface="Calibri"/>
              </a:rPr>
              <a:t>Q&amp;A </a:t>
            </a:r>
            <a:r>
              <a:rPr lang="en-US" sz="2000">
                <a:solidFill>
                  <a:schemeClr val="dk1"/>
                </a:solidFill>
                <a:latin typeface="Calibri"/>
                <a:ea typeface="Calibri"/>
                <a:cs typeface="Calibri"/>
                <a:sym typeface="Calibri"/>
              </a:rPr>
              <a:t>does anyone have questions</a:t>
            </a:r>
            <a:endParaRPr sz="2000" b="0" i="0" u="none" strike="noStrike" cap="none">
              <a:solidFill>
                <a:schemeClr val="dk1"/>
              </a:solidFill>
              <a:latin typeface="Calibri"/>
              <a:ea typeface="Calibri"/>
              <a:cs typeface="Calibri"/>
              <a:sym typeface="Calibri"/>
            </a:endParaRPr>
          </a:p>
        </p:txBody>
      </p:sp>
      <p:sp>
        <p:nvSpPr>
          <p:cNvPr id="136" name="Google Shape;136;p18"/>
          <p:cNvSpPr txBox="1">
            <a:spLocks noGrp="1"/>
          </p:cNvSpPr>
          <p:nvPr>
            <p:ph type="sldNum" idx="4294967295"/>
          </p:nvPr>
        </p:nvSpPr>
        <p:spPr>
          <a:xfrm>
            <a:off x="8046720" y="4709160"/>
            <a:ext cx="457200" cy="27432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3"/>
                </a:solidFill>
                <a:latin typeface="Calibri"/>
                <a:ea typeface="Calibri"/>
                <a:cs typeface="Calibri"/>
                <a:sym typeface="Calibri"/>
              </a:rPr>
              <a:t>20</a:t>
            </a:fld>
            <a:endParaRPr sz="1000" b="0" i="0" u="none" strike="noStrike" cap="none">
              <a:solidFill>
                <a:schemeClr val="accent3"/>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Warm Simple">
  <a:themeElements>
    <a:clrScheme name="Warm Simple">
      <a:dk1>
        <a:srgbClr val="2E2A26"/>
      </a:dk1>
      <a:lt1>
        <a:srgbClr val="FFFFFF"/>
      </a:lt1>
      <a:dk2>
        <a:srgbClr val="637052"/>
      </a:dk2>
      <a:lt2>
        <a:srgbClr val="F6EFE4"/>
      </a:lt2>
      <a:accent1>
        <a:srgbClr val="E48312"/>
      </a:accent1>
      <a:accent2>
        <a:srgbClr val="BD582C"/>
      </a:accent2>
      <a:accent3>
        <a:srgbClr val="865640"/>
      </a:accent3>
      <a:accent4>
        <a:srgbClr val="9B8357"/>
      </a:accent4>
      <a:accent5>
        <a:srgbClr val="F0E2C8"/>
      </a:accent5>
      <a:accent6>
        <a:srgbClr val="94A088"/>
      </a:accent6>
      <a:hlink>
        <a:srgbClr val="BD582C"/>
      </a:hlink>
      <a:folHlink>
        <a:srgbClr val="86564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arm Simple">
  <a:themeElements>
    <a:clrScheme name="Warm Simple">
      <a:dk1>
        <a:srgbClr val="2E2A26"/>
      </a:dk1>
      <a:lt1>
        <a:srgbClr val="FFFFFF"/>
      </a:lt1>
      <a:dk2>
        <a:srgbClr val="637052"/>
      </a:dk2>
      <a:lt2>
        <a:srgbClr val="F6EFE4"/>
      </a:lt2>
      <a:accent1>
        <a:srgbClr val="E48312"/>
      </a:accent1>
      <a:accent2>
        <a:srgbClr val="BD582C"/>
      </a:accent2>
      <a:accent3>
        <a:srgbClr val="865640"/>
      </a:accent3>
      <a:accent4>
        <a:srgbClr val="9B8357"/>
      </a:accent4>
      <a:accent5>
        <a:srgbClr val="F0E2C8"/>
      </a:accent5>
      <a:accent6>
        <a:srgbClr val="94A088"/>
      </a:accent6>
      <a:hlink>
        <a:srgbClr val="BD582C"/>
      </a:hlink>
      <a:folHlink>
        <a:srgbClr val="86564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D22AE8452E3584496E41816556FCBA8" ma:contentTypeVersion="4" ma:contentTypeDescription="Create a new document." ma:contentTypeScope="" ma:versionID="855117ad758483ae4c57e74ed3644775">
  <xsd:schema xmlns:xsd="http://www.w3.org/2001/XMLSchema" xmlns:xs="http://www.w3.org/2001/XMLSchema" xmlns:p="http://schemas.microsoft.com/office/2006/metadata/properties" xmlns:ns3="65802615-4d36-46d0-ab61-9df5ec3174b7" targetNamespace="http://schemas.microsoft.com/office/2006/metadata/properties" ma:root="true" ma:fieldsID="0eff4880bb34e40504f70c8c932daa44" ns3:_="">
    <xsd:import namespace="65802615-4d36-46d0-ab61-9df5ec3174b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802615-4d36-46d0-ab61-9df5ec3174b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A25091A-9E4E-4F1B-9BB3-6590C4DC1604}">
  <ds:schemaRefs>
    <ds:schemaRef ds:uri="http://schemas.microsoft.com/sharepoint/v3/contenttype/forms"/>
  </ds:schemaRefs>
</ds:datastoreItem>
</file>

<file path=customXml/itemProps2.xml><?xml version="1.0" encoding="utf-8"?>
<ds:datastoreItem xmlns:ds="http://schemas.openxmlformats.org/officeDocument/2006/customXml" ds:itemID="{39DAAE8B-2D78-4D25-A017-097E429E8C5C}">
  <ds:schemaRefs>
    <ds:schemaRef ds:uri="65802615-4d36-46d0-ab61-9df5ec3174b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DF6D43F-E119-4AAB-B8BD-A7C0A97953C7}">
  <ds:schemaRefs>
    <ds:schemaRef ds:uri="http://purl.org/dc/elements/1.1/"/>
    <ds:schemaRef ds:uri="http://www.w3.org/XML/1998/namespace"/>
    <ds:schemaRef ds:uri="http://schemas.microsoft.com/office/infopath/2007/PartnerControls"/>
    <ds:schemaRef ds:uri="http://schemas.microsoft.com/office/2006/documentManagement/types"/>
    <ds:schemaRef ds:uri="http://schemas.microsoft.com/office/2006/metadata/properties"/>
    <ds:schemaRef ds:uri="http://purl.org/dc/terms/"/>
    <ds:schemaRef ds:uri="65802615-4d36-46d0-ab61-9df5ec3174b7"/>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1361</Words>
  <Application>Microsoft Office PowerPoint</Application>
  <PresentationFormat>On-screen Show (16:9)</PresentationFormat>
  <Paragraphs>142</Paragraphs>
  <Slides>20</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Warm Simple</vt:lpstr>
      <vt:lpstr>Introduction to Computing</vt:lpstr>
      <vt:lpstr>Four mini demos + Meet the team</vt:lpstr>
      <vt:lpstr>MP1: Computing</vt:lpstr>
      <vt:lpstr>PowerPoint Presentation</vt:lpstr>
      <vt:lpstr>PowerPoint Presentation</vt:lpstr>
      <vt:lpstr>Mini demo: query live data</vt:lpstr>
      <vt:lpstr>MP2: Software Engineering</vt:lpstr>
      <vt:lpstr>How we worked</vt:lpstr>
      <vt:lpstr>PowerPoint Presentation</vt:lpstr>
      <vt:lpstr>Mini demo: run the program</vt:lpstr>
      <vt:lpstr>PowerPoint Presentation</vt:lpstr>
      <vt:lpstr>PowerPoint Presentation</vt:lpstr>
      <vt:lpstr>Example Results</vt:lpstr>
      <vt:lpstr>MP3: Networking</vt:lpstr>
      <vt:lpstr>Mini demo: ping the network</vt:lpstr>
      <vt:lpstr>MP4: Cyber Security</vt:lpstr>
      <vt:lpstr>Mini demo: MFA </vt:lpstr>
      <vt:lpstr>What links the four projects</vt:lpstr>
      <vt:lpstr>How we used and checked GAI</vt:lpstr>
      <vt:lpstr>Conclusion and 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Morgan, Henry</cp:lastModifiedBy>
  <cp:revision>1</cp:revision>
  <dcterms:modified xsi:type="dcterms:W3CDTF">2026-10-22T10:09:10Z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0x0101002D22AE8452E3584496E41816556FCBA8</vt:lpwstr>
  </property>
</Properties>
</file>